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UID ในตำนาน" charset="1" panose="00000000000000000000"/>
      <p:regular r:id="rId17"/>
    </p:embeddedFont>
    <p:embeddedFont>
      <p:font typeface="Portada Thai Bold" charset="1" panose="00000800000000000000"/>
      <p:regular r:id="rId18"/>
    </p:embeddedFont>
    <p:embeddedFont>
      <p:font typeface="Puimek Font TH Italics" charset="1" panose="02000503000000000000"/>
      <p:regular r:id="rId19"/>
    </p:embeddedFont>
    <p:embeddedFont>
      <p:font typeface="Archivo Black" charset="1" panose="020B0A03020202020B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classroom.google.com/u/2/c/ODU0NTI2Nzk0MzM5" TargetMode="External" Type="http://schemas.openxmlformats.org/officeDocument/2006/relationships/hyperlink"/><Relationship Id="rId5" Target="https://classroom.google.com/u/2/c/ODU0NTI2Nzk0MzM5"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287135">
            <a:off x="-361123" y="-1505385"/>
            <a:ext cx="6888340" cy="3332235"/>
          </a:xfrm>
          <a:custGeom>
            <a:avLst/>
            <a:gdLst/>
            <a:ahLst/>
            <a:cxnLst/>
            <a:rect r="r" b="b" t="t" l="l"/>
            <a:pathLst>
              <a:path h="3332235" w="6888340">
                <a:moveTo>
                  <a:pt x="6888340" y="0"/>
                </a:moveTo>
                <a:lnTo>
                  <a:pt x="0" y="0"/>
                </a:lnTo>
                <a:lnTo>
                  <a:pt x="0" y="3332235"/>
                </a:lnTo>
                <a:lnTo>
                  <a:pt x="6888340" y="3332235"/>
                </a:lnTo>
                <a:lnTo>
                  <a:pt x="6888340" y="0"/>
                </a:lnTo>
                <a:close/>
              </a:path>
            </a:pathLst>
          </a:custGeom>
          <a:blipFill>
            <a:blip r:embed="rId2"/>
            <a:stretch>
              <a:fillRect l="0" t="0" r="0" b="0"/>
            </a:stretch>
          </a:blipFill>
        </p:spPr>
      </p:sp>
      <p:sp>
        <p:nvSpPr>
          <p:cNvPr name="Freeform 3" id="3"/>
          <p:cNvSpPr/>
          <p:nvPr/>
        </p:nvSpPr>
        <p:spPr>
          <a:xfrm flipH="false" flipV="false" rot="0">
            <a:off x="0" y="3329926"/>
            <a:ext cx="18474560" cy="8937069"/>
          </a:xfrm>
          <a:custGeom>
            <a:avLst/>
            <a:gdLst/>
            <a:ahLst/>
            <a:cxnLst/>
            <a:rect r="r" b="b" t="t" l="l"/>
            <a:pathLst>
              <a:path h="8937069" w="18474560">
                <a:moveTo>
                  <a:pt x="0" y="0"/>
                </a:moveTo>
                <a:lnTo>
                  <a:pt x="18474560" y="0"/>
                </a:lnTo>
                <a:lnTo>
                  <a:pt x="18474560" y="8937069"/>
                </a:lnTo>
                <a:lnTo>
                  <a:pt x="0" y="8937069"/>
                </a:lnTo>
                <a:lnTo>
                  <a:pt x="0" y="0"/>
                </a:lnTo>
                <a:close/>
              </a:path>
            </a:pathLst>
          </a:custGeom>
          <a:blipFill>
            <a:blip r:embed="rId3"/>
            <a:stretch>
              <a:fillRect l="0" t="0" r="0" b="0"/>
            </a:stretch>
          </a:blipFill>
        </p:spPr>
      </p:sp>
      <p:grpSp>
        <p:nvGrpSpPr>
          <p:cNvPr name="Group 4" id="4"/>
          <p:cNvGrpSpPr/>
          <p:nvPr/>
        </p:nvGrpSpPr>
        <p:grpSpPr>
          <a:xfrm rot="0">
            <a:off x="5363761" y="7626859"/>
            <a:ext cx="7560478" cy="1631441"/>
            <a:chOff x="0" y="0"/>
            <a:chExt cx="1991237" cy="429680"/>
          </a:xfrm>
        </p:grpSpPr>
        <p:sp>
          <p:nvSpPr>
            <p:cNvPr name="Freeform 5" id="5"/>
            <p:cNvSpPr/>
            <p:nvPr/>
          </p:nvSpPr>
          <p:spPr>
            <a:xfrm flipH="false" flipV="false" rot="0">
              <a:off x="0" y="0"/>
              <a:ext cx="1991237" cy="429680"/>
            </a:xfrm>
            <a:custGeom>
              <a:avLst/>
              <a:gdLst/>
              <a:ahLst/>
              <a:cxnLst/>
              <a:rect r="r" b="b" t="t" l="l"/>
              <a:pathLst>
                <a:path h="429680" w="1991237">
                  <a:moveTo>
                    <a:pt x="52224" y="0"/>
                  </a:moveTo>
                  <a:lnTo>
                    <a:pt x="1939013" y="0"/>
                  </a:lnTo>
                  <a:cubicBezTo>
                    <a:pt x="1952864" y="0"/>
                    <a:pt x="1966147" y="5502"/>
                    <a:pt x="1975941" y="15296"/>
                  </a:cubicBezTo>
                  <a:cubicBezTo>
                    <a:pt x="1985735" y="25090"/>
                    <a:pt x="1991237" y="38373"/>
                    <a:pt x="1991237" y="52224"/>
                  </a:cubicBezTo>
                  <a:lnTo>
                    <a:pt x="1991237" y="377456"/>
                  </a:lnTo>
                  <a:cubicBezTo>
                    <a:pt x="1991237" y="391307"/>
                    <a:pt x="1985735" y="404590"/>
                    <a:pt x="1975941" y="414384"/>
                  </a:cubicBezTo>
                  <a:cubicBezTo>
                    <a:pt x="1966147" y="424178"/>
                    <a:pt x="1952864" y="429680"/>
                    <a:pt x="1939013" y="429680"/>
                  </a:cubicBezTo>
                  <a:lnTo>
                    <a:pt x="52224" y="429680"/>
                  </a:lnTo>
                  <a:cubicBezTo>
                    <a:pt x="38373" y="429680"/>
                    <a:pt x="25090" y="424178"/>
                    <a:pt x="15296" y="414384"/>
                  </a:cubicBezTo>
                  <a:cubicBezTo>
                    <a:pt x="5502" y="404590"/>
                    <a:pt x="0" y="391307"/>
                    <a:pt x="0" y="377456"/>
                  </a:cubicBezTo>
                  <a:lnTo>
                    <a:pt x="0" y="52224"/>
                  </a:lnTo>
                  <a:cubicBezTo>
                    <a:pt x="0" y="38373"/>
                    <a:pt x="5502" y="25090"/>
                    <a:pt x="15296" y="15296"/>
                  </a:cubicBezTo>
                  <a:cubicBezTo>
                    <a:pt x="25090" y="5502"/>
                    <a:pt x="38373" y="0"/>
                    <a:pt x="52224" y="0"/>
                  </a:cubicBezTo>
                  <a:close/>
                </a:path>
              </a:pathLst>
            </a:custGeom>
            <a:gradFill rotWithShape="true">
              <a:gsLst>
                <a:gs pos="0">
                  <a:srgbClr val="B992C1">
                    <a:alpha val="50000"/>
                  </a:srgbClr>
                </a:gs>
                <a:gs pos="100000">
                  <a:srgbClr val="0A2C92">
                    <a:alpha val="50000"/>
                  </a:srgbClr>
                </a:gs>
              </a:gsLst>
              <a:lin ang="0"/>
            </a:gradFill>
            <a:ln w="47625" cap="rnd">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round/>
            </a:ln>
          </p:spPr>
        </p:sp>
        <p:sp>
          <p:nvSpPr>
            <p:cNvPr name="TextBox 6" id="6"/>
            <p:cNvSpPr txBox="true"/>
            <p:nvPr/>
          </p:nvSpPr>
          <p:spPr>
            <a:xfrm>
              <a:off x="0" y="-85725"/>
              <a:ext cx="1991237" cy="515405"/>
            </a:xfrm>
            <a:prstGeom prst="rect">
              <a:avLst/>
            </a:prstGeom>
          </p:spPr>
          <p:txBody>
            <a:bodyPr anchor="ctr" rtlCol="false" tIns="50800" lIns="50800" bIns="50800" rIns="50800"/>
            <a:lstStyle/>
            <a:p>
              <a:pPr algn="ctr">
                <a:lnSpc>
                  <a:spcPts val="3359"/>
                </a:lnSpc>
              </a:pPr>
              <a:r>
                <a:rPr lang="en-US" sz="2399" spc="719">
                  <a:solidFill>
                    <a:srgbClr val="FFFFFF"/>
                  </a:solidFill>
                  <a:latin typeface="UID ในตำนาน"/>
                  <a:ea typeface="UID ในตำนาน"/>
                  <a:cs typeface="UID ในตำนาน"/>
                  <a:sym typeface="UID ในตำนาน"/>
                </a:rPr>
                <a:t>PRESENT BY </a:t>
              </a:r>
            </a:p>
            <a:p>
              <a:pPr algn="ctr">
                <a:lnSpc>
                  <a:spcPts val="3359"/>
                </a:lnSpc>
              </a:pPr>
              <a:r>
                <a:rPr lang="en-US" sz="2399" spc="719">
                  <a:solidFill>
                    <a:srgbClr val="FFFFFF"/>
                  </a:solidFill>
                  <a:latin typeface="UID ในตำนาน"/>
                  <a:ea typeface="UID ในตำนาน"/>
                  <a:cs typeface="UID ในตำนาน"/>
                  <a:sym typeface="UID ในตำนาน"/>
                </a:rPr>
                <a:t>นางสาวจตุพร ทุมชะ 66011212009</a:t>
              </a:r>
            </a:p>
            <a:p>
              <a:pPr algn="ctr">
                <a:lnSpc>
                  <a:spcPts val="3359"/>
                </a:lnSpc>
              </a:pPr>
              <a:r>
                <a:rPr lang="en-US" sz="2399" spc="719">
                  <a:solidFill>
                    <a:srgbClr val="FFFFFF"/>
                  </a:solidFill>
                  <a:latin typeface="UID ในตำนาน"/>
                  <a:ea typeface="UID ในตำนาน"/>
                  <a:cs typeface="UID ในตำนาน"/>
                  <a:sym typeface="UID ในตำนาน"/>
                </a:rPr>
                <a:t>นางสาวเจนจิรา คำปิว 66011212080</a:t>
              </a:r>
            </a:p>
          </p:txBody>
        </p:sp>
      </p:grpSp>
      <p:sp>
        <p:nvSpPr>
          <p:cNvPr name="TextBox 7" id="7"/>
          <p:cNvSpPr txBox="true"/>
          <p:nvPr/>
        </p:nvSpPr>
        <p:spPr>
          <a:xfrm rot="0">
            <a:off x="1028700" y="2308560"/>
            <a:ext cx="16230600" cy="4406255"/>
          </a:xfrm>
          <a:prstGeom prst="rect">
            <a:avLst/>
          </a:prstGeom>
        </p:spPr>
        <p:txBody>
          <a:bodyPr anchor="t" rtlCol="false" tIns="0" lIns="0" bIns="0" rIns="0">
            <a:spAutoFit/>
          </a:bodyPr>
          <a:lstStyle/>
          <a:p>
            <a:pPr algn="l">
              <a:lnSpc>
                <a:spcPts val="11760"/>
              </a:lnSpc>
              <a:spcBef>
                <a:spcPct val="0"/>
              </a:spcBef>
            </a:pPr>
            <a:r>
              <a:rPr lang="en-US" b="true" sz="8400">
                <a:solidFill>
                  <a:srgbClr val="FFFFFF"/>
                </a:solidFill>
                <a:latin typeface="Portada Thai Bold"/>
                <a:ea typeface="Portada Thai Bold"/>
                <a:cs typeface="Portada Thai Bold"/>
                <a:sym typeface="Portada Thai Bold"/>
              </a:rPr>
              <a:t>กระบวนการเตรียมและสำรวจข้อมูล (EDA) บทความวิจัยจาก </a:t>
            </a:r>
            <a:r>
              <a:rPr lang="en-US" b="true" sz="8400">
                <a:solidFill>
                  <a:srgbClr val="FFFFFF"/>
                </a:solidFill>
                <a:latin typeface="Portada Thai Bold"/>
                <a:ea typeface="Portada Thai Bold"/>
                <a:cs typeface="Portada Thai Bold"/>
                <a:sym typeface="Portada Thai Bold"/>
              </a:rPr>
              <a:t>SCOPUS สำหรับ MACHINE LEARNING</a:t>
            </a:r>
          </a:p>
        </p:txBody>
      </p:sp>
      <p:sp>
        <p:nvSpPr>
          <p:cNvPr name="TextBox 8" id="8"/>
          <p:cNvSpPr txBox="true"/>
          <p:nvPr/>
        </p:nvSpPr>
        <p:spPr>
          <a:xfrm rot="0">
            <a:off x="10056822" y="981075"/>
            <a:ext cx="7202478" cy="405765"/>
          </a:xfrm>
          <a:prstGeom prst="rect">
            <a:avLst/>
          </a:prstGeom>
        </p:spPr>
        <p:txBody>
          <a:bodyPr anchor="t" rtlCol="false" tIns="0" lIns="0" bIns="0" rIns="0">
            <a:spAutoFit/>
          </a:bodyPr>
          <a:lstStyle/>
          <a:p>
            <a:pPr algn="r">
              <a:lnSpc>
                <a:spcPts val="3360"/>
              </a:lnSpc>
              <a:spcBef>
                <a:spcPct val="0"/>
              </a:spcBef>
            </a:pPr>
            <a:r>
              <a:rPr lang="en-US" sz="2400" i="true" spc="240">
                <a:solidFill>
                  <a:srgbClr val="FFFFFF"/>
                </a:solidFill>
                <a:latin typeface="Puimek Font TH Italics"/>
                <a:ea typeface="Puimek Font TH Italics"/>
                <a:cs typeface="Puimek Font TH Italics"/>
                <a:sym typeface="Puimek Font TH Italics"/>
                <a:hlinkClick r:id="rId4" tooltip="https://classroom.google.com/u/2/c/ODU0NTI2Nzk0MzM5"/>
              </a:rPr>
              <a:t>1208207</a:t>
            </a:r>
            <a:r>
              <a:rPr lang="en-US" sz="2400" i="true" spc="240">
                <a:solidFill>
                  <a:srgbClr val="FFFFFF"/>
                </a:solidFill>
                <a:latin typeface="Puimek Font TH Italics"/>
                <a:ea typeface="Puimek Font TH Italics"/>
                <a:cs typeface="Puimek Font TH Italics"/>
                <a:sym typeface="Puimek Font TH Italics"/>
                <a:hlinkClick r:id="rId5" tooltip="https://classroom.google.com/u/2/c/ODU0NTI2Nzk0MzM5"/>
              </a:rPr>
              <a:t> - การวิเคราะห์ข้อมูลขั้นพื้นฐาน</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2871222" y="5958078"/>
            <a:ext cx="16230600" cy="6600444"/>
          </a:xfrm>
          <a:custGeom>
            <a:avLst/>
            <a:gdLst/>
            <a:ahLst/>
            <a:cxnLst/>
            <a:rect r="r" b="b" t="t" l="l"/>
            <a:pathLst>
              <a:path h="6600444" w="16230600">
                <a:moveTo>
                  <a:pt x="16230600" y="0"/>
                </a:moveTo>
                <a:lnTo>
                  <a:pt x="0" y="0"/>
                </a:lnTo>
                <a:lnTo>
                  <a:pt x="0" y="6600444"/>
                </a:lnTo>
                <a:lnTo>
                  <a:pt x="16230600" y="6600444"/>
                </a:lnTo>
                <a:lnTo>
                  <a:pt x="16230600" y="0"/>
                </a:lnTo>
                <a:close/>
              </a:path>
            </a:pathLst>
          </a:custGeom>
          <a:blipFill>
            <a:blip r:embed="rId2"/>
            <a:stretch>
              <a:fillRect l="0" t="0" r="0" b="0"/>
            </a:stretch>
          </a:blipFill>
        </p:spPr>
      </p:sp>
      <p:sp>
        <p:nvSpPr>
          <p:cNvPr name="AutoShape 3" id="3"/>
          <p:cNvSpPr/>
          <p:nvPr/>
        </p:nvSpPr>
        <p:spPr>
          <a:xfrm flipH="true">
            <a:off x="4959878" y="2264902"/>
            <a:ext cx="10224181" cy="0"/>
          </a:xfrm>
          <a:prstGeom prst="line">
            <a:avLst/>
          </a:prstGeom>
          <a:ln cap="flat" w="38100">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headEnd type="none" len="sm" w="sm"/>
            <a:tailEnd type="none" len="sm" w="sm"/>
          </a:ln>
        </p:spPr>
      </p:sp>
      <p:sp>
        <p:nvSpPr>
          <p:cNvPr name="Freeform 4" id="4"/>
          <p:cNvSpPr/>
          <p:nvPr/>
        </p:nvSpPr>
        <p:spPr>
          <a:xfrm flipH="false" flipV="false" rot="0">
            <a:off x="4977877" y="5143500"/>
            <a:ext cx="8332245" cy="4700180"/>
          </a:xfrm>
          <a:custGeom>
            <a:avLst/>
            <a:gdLst/>
            <a:ahLst/>
            <a:cxnLst/>
            <a:rect r="r" b="b" t="t" l="l"/>
            <a:pathLst>
              <a:path h="4700180" w="8332245">
                <a:moveTo>
                  <a:pt x="0" y="0"/>
                </a:moveTo>
                <a:lnTo>
                  <a:pt x="8332246" y="0"/>
                </a:lnTo>
                <a:lnTo>
                  <a:pt x="8332246" y="4700180"/>
                </a:lnTo>
                <a:lnTo>
                  <a:pt x="0" y="4700180"/>
                </a:lnTo>
                <a:lnTo>
                  <a:pt x="0" y="0"/>
                </a:lnTo>
                <a:close/>
              </a:path>
            </a:pathLst>
          </a:custGeom>
          <a:blipFill>
            <a:blip r:embed="rId3"/>
            <a:stretch>
              <a:fillRect l="-30160" t="-26592" r="-19194" b="0"/>
            </a:stretch>
          </a:blipFill>
        </p:spPr>
      </p:sp>
      <p:sp>
        <p:nvSpPr>
          <p:cNvPr name="TextBox 5" id="5"/>
          <p:cNvSpPr txBox="true"/>
          <p:nvPr/>
        </p:nvSpPr>
        <p:spPr>
          <a:xfrm rot="0">
            <a:off x="1559262" y="734553"/>
            <a:ext cx="15169477" cy="1530349"/>
          </a:xfrm>
          <a:prstGeom prst="rect">
            <a:avLst/>
          </a:prstGeom>
        </p:spPr>
        <p:txBody>
          <a:bodyPr anchor="t" rtlCol="false" tIns="0" lIns="0" bIns="0" rIns="0">
            <a:spAutoFit/>
          </a:bodyPr>
          <a:lstStyle/>
          <a:p>
            <a:pPr algn="ctr">
              <a:lnSpc>
                <a:spcPts val="11200"/>
              </a:lnSpc>
              <a:spcBef>
                <a:spcPct val="0"/>
              </a:spcBef>
            </a:pPr>
            <a:r>
              <a:rPr lang="en-US" sz="8000">
                <a:solidFill>
                  <a:srgbClr val="FFFFFF"/>
                </a:solidFill>
                <a:latin typeface="UID ในตำนาน"/>
                <a:ea typeface="UID ในตำนาน"/>
                <a:cs typeface="UID ในตำนาน"/>
                <a:sym typeface="UID ในตำนาน"/>
              </a:rPr>
              <a:t>กระบวนการทำ EDA </a:t>
            </a:r>
          </a:p>
        </p:txBody>
      </p:sp>
      <p:sp>
        <p:nvSpPr>
          <p:cNvPr name="TextBox 6" id="6"/>
          <p:cNvSpPr txBox="true"/>
          <p:nvPr/>
        </p:nvSpPr>
        <p:spPr>
          <a:xfrm rot="0">
            <a:off x="1028700" y="2746907"/>
            <a:ext cx="16230600" cy="1988820"/>
          </a:xfrm>
          <a:prstGeom prst="rect">
            <a:avLst/>
          </a:prstGeom>
        </p:spPr>
        <p:txBody>
          <a:bodyPr anchor="t" rtlCol="false" tIns="0" lIns="0" bIns="0" rIns="0">
            <a:spAutoFit/>
          </a:bodyPr>
          <a:lstStyle/>
          <a:p>
            <a:pPr algn="l">
              <a:lnSpc>
                <a:spcPts val="3120"/>
              </a:lnSpc>
            </a:pPr>
            <a:r>
              <a:rPr lang="en-US" sz="2400" spc="240">
                <a:solidFill>
                  <a:srgbClr val="FFFFFF"/>
                </a:solidFill>
                <a:latin typeface="UID ในตำนาน"/>
                <a:ea typeface="UID ในตำนาน"/>
                <a:cs typeface="UID ในตำนาน"/>
                <a:sym typeface="UID ในตำนาน"/>
              </a:rPr>
              <a:t>               ดา</a:t>
            </a:r>
            <a:r>
              <a:rPr lang="en-US" sz="2400" spc="240">
                <a:solidFill>
                  <a:srgbClr val="FFFFFF"/>
                </a:solidFill>
                <a:latin typeface="UID ในตำนาน"/>
                <a:ea typeface="UID ในตำนาน"/>
                <a:cs typeface="UID ในตำนาน"/>
                <a:sym typeface="UID ในตำนาน"/>
              </a:rPr>
              <a:t>วน์โหลดชุดข้อมูล เป็นไฟล์ CSV จาก Scopus.com จำนวน 10 สาขาวิชา สาขาละ 600 บทความ ได้แก่ สาขา Artificial_Intelligence, Computational Theory AND Mathematics, Computer Graphics AND Computer AidedDesign, Computer Networks AND Communications, Computer Vision AND Pattern Recognition, Hardware AND Architecture, Human ComputerInteraction, Information Systems, Signal Processing, Software โดยใช้ keyword ที่กำหนดจากให้เลือก subject area เฉพาะ Computer Science เท่านั้น</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2871222" y="5958078"/>
            <a:ext cx="16230600" cy="6600444"/>
          </a:xfrm>
          <a:custGeom>
            <a:avLst/>
            <a:gdLst/>
            <a:ahLst/>
            <a:cxnLst/>
            <a:rect r="r" b="b" t="t" l="l"/>
            <a:pathLst>
              <a:path h="6600444" w="16230600">
                <a:moveTo>
                  <a:pt x="16230600" y="0"/>
                </a:moveTo>
                <a:lnTo>
                  <a:pt x="0" y="0"/>
                </a:lnTo>
                <a:lnTo>
                  <a:pt x="0" y="6600444"/>
                </a:lnTo>
                <a:lnTo>
                  <a:pt x="16230600" y="6600444"/>
                </a:lnTo>
                <a:lnTo>
                  <a:pt x="16230600" y="0"/>
                </a:lnTo>
                <a:close/>
              </a:path>
            </a:pathLst>
          </a:custGeom>
          <a:blipFill>
            <a:blip r:embed="rId2"/>
            <a:stretch>
              <a:fillRect l="0" t="0" r="0" b="0"/>
            </a:stretch>
          </a:blipFill>
        </p:spPr>
      </p:sp>
      <p:sp>
        <p:nvSpPr>
          <p:cNvPr name="AutoShape 3" id="3"/>
          <p:cNvSpPr/>
          <p:nvPr/>
        </p:nvSpPr>
        <p:spPr>
          <a:xfrm flipH="true">
            <a:off x="1569369" y="2033128"/>
            <a:ext cx="15201761" cy="0"/>
          </a:xfrm>
          <a:prstGeom prst="line">
            <a:avLst/>
          </a:prstGeom>
          <a:ln cap="flat" w="38100">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headEnd type="none" len="sm" w="sm"/>
            <a:tailEnd type="none" len="sm" w="sm"/>
          </a:ln>
        </p:spPr>
      </p:sp>
      <p:sp>
        <p:nvSpPr>
          <p:cNvPr name="Freeform 4" id="4"/>
          <p:cNvSpPr/>
          <p:nvPr/>
        </p:nvSpPr>
        <p:spPr>
          <a:xfrm flipH="false" flipV="false" rot="0">
            <a:off x="3823681" y="5685591"/>
            <a:ext cx="10640637" cy="2278884"/>
          </a:xfrm>
          <a:custGeom>
            <a:avLst/>
            <a:gdLst/>
            <a:ahLst/>
            <a:cxnLst/>
            <a:rect r="r" b="b" t="t" l="l"/>
            <a:pathLst>
              <a:path h="2278884" w="10640637">
                <a:moveTo>
                  <a:pt x="0" y="0"/>
                </a:moveTo>
                <a:lnTo>
                  <a:pt x="10640638" y="0"/>
                </a:lnTo>
                <a:lnTo>
                  <a:pt x="10640638" y="2278885"/>
                </a:lnTo>
                <a:lnTo>
                  <a:pt x="0" y="2278885"/>
                </a:lnTo>
                <a:lnTo>
                  <a:pt x="0" y="0"/>
                </a:lnTo>
                <a:close/>
              </a:path>
            </a:pathLst>
          </a:custGeom>
          <a:blipFill>
            <a:blip r:embed="rId3"/>
            <a:stretch>
              <a:fillRect l="0" t="0" r="0" b="0"/>
            </a:stretch>
          </a:blipFill>
        </p:spPr>
      </p:sp>
      <p:sp>
        <p:nvSpPr>
          <p:cNvPr name="TextBox 5" id="5"/>
          <p:cNvSpPr txBox="true"/>
          <p:nvPr/>
        </p:nvSpPr>
        <p:spPr>
          <a:xfrm rot="0">
            <a:off x="1516870" y="824088"/>
            <a:ext cx="15254260" cy="1209040"/>
          </a:xfrm>
          <a:prstGeom prst="rect">
            <a:avLst/>
          </a:prstGeom>
        </p:spPr>
        <p:txBody>
          <a:bodyPr anchor="t" rtlCol="false" tIns="0" lIns="0" bIns="0" rIns="0">
            <a:spAutoFit/>
          </a:bodyPr>
          <a:lstStyle/>
          <a:p>
            <a:pPr algn="ctr">
              <a:lnSpc>
                <a:spcPts val="8959"/>
              </a:lnSpc>
              <a:spcBef>
                <a:spcPct val="0"/>
              </a:spcBef>
            </a:pPr>
            <a:r>
              <a:rPr lang="en-US" sz="6399">
                <a:solidFill>
                  <a:srgbClr val="FFFFFF"/>
                </a:solidFill>
                <a:latin typeface="UID ในตำนาน"/>
                <a:ea typeface="UID ในตำนาน"/>
                <a:cs typeface="UID ในตำนาน"/>
                <a:sym typeface="UID ในตำนาน"/>
              </a:rPr>
              <a:t>การกำจัดข้อมูลซ้ำซ้อน (DATA DEDUPLICATION)</a:t>
            </a:r>
          </a:p>
        </p:txBody>
      </p:sp>
      <p:sp>
        <p:nvSpPr>
          <p:cNvPr name="TextBox 6" id="6"/>
          <p:cNvSpPr txBox="true"/>
          <p:nvPr/>
        </p:nvSpPr>
        <p:spPr>
          <a:xfrm rot="0">
            <a:off x="3006975" y="2942169"/>
            <a:ext cx="11722960" cy="1598295"/>
          </a:xfrm>
          <a:prstGeom prst="rect">
            <a:avLst/>
          </a:prstGeom>
        </p:spPr>
        <p:txBody>
          <a:bodyPr anchor="t" rtlCol="false" tIns="0" lIns="0" bIns="0" rIns="0">
            <a:spAutoFit/>
          </a:bodyPr>
          <a:lstStyle/>
          <a:p>
            <a:pPr algn="l">
              <a:lnSpc>
                <a:spcPts val="3120"/>
              </a:lnSpc>
            </a:pPr>
            <a:r>
              <a:rPr lang="en-US" sz="2400" spc="240">
                <a:solidFill>
                  <a:srgbClr val="FFFFFF"/>
                </a:solidFill>
                <a:latin typeface="UID ในตำนาน"/>
                <a:ea typeface="UID ในตำนาน"/>
                <a:cs typeface="UID ในตำนาน"/>
                <a:sym typeface="UID ในตำนาน"/>
              </a:rPr>
              <a:t>               </a:t>
            </a:r>
            <a:r>
              <a:rPr lang="en-US" sz="2400" spc="240">
                <a:solidFill>
                  <a:srgbClr val="FFFFFF"/>
                </a:solidFill>
                <a:latin typeface="UID ในตำนาน"/>
                <a:ea typeface="UID ในตำนาน"/>
                <a:cs typeface="UID ในตำนาน"/>
                <a:sym typeface="UID ในตำนาน"/>
              </a:rPr>
              <a:t>ในการตรวจสอบชื่อบทความ (Title) หากพบว่าบทความใดถูกจัดอยู่ในหลายสาขาวิชา (เช่น อยู่ทั้งใน AI และ Software) ระบบจะลบข้อมูลนั้นทิ้งทั้งหมด เหตุผลเพื่อป้องกันปัญหา ความคลุมเครือของคลาส (Class Ambiguity) ซึ่งจะทำให้โมเดล Machine Learning สับสนและลดความแม่นยำในการทำนายลง</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81587" y="5681867"/>
            <a:ext cx="11585239" cy="4605133"/>
          </a:xfrm>
          <a:custGeom>
            <a:avLst/>
            <a:gdLst/>
            <a:ahLst/>
            <a:cxnLst/>
            <a:rect r="r" b="b" t="t" l="l"/>
            <a:pathLst>
              <a:path h="4605133" w="11585239">
                <a:moveTo>
                  <a:pt x="0" y="0"/>
                </a:moveTo>
                <a:lnTo>
                  <a:pt x="11585239" y="0"/>
                </a:lnTo>
                <a:lnTo>
                  <a:pt x="11585239" y="4605133"/>
                </a:lnTo>
                <a:lnTo>
                  <a:pt x="0" y="4605133"/>
                </a:lnTo>
                <a:lnTo>
                  <a:pt x="0" y="0"/>
                </a:lnTo>
                <a:close/>
              </a:path>
            </a:pathLst>
          </a:custGeom>
          <a:blipFill>
            <a:blip r:embed="rId2"/>
            <a:stretch>
              <a:fillRect l="0" t="0" r="0" b="0"/>
            </a:stretch>
          </a:blipFill>
        </p:spPr>
      </p:sp>
      <p:grpSp>
        <p:nvGrpSpPr>
          <p:cNvPr name="Group 3" id="3"/>
          <p:cNvGrpSpPr/>
          <p:nvPr/>
        </p:nvGrpSpPr>
        <p:grpSpPr>
          <a:xfrm rot="0">
            <a:off x="1028700" y="2879686"/>
            <a:ext cx="7279645" cy="6461648"/>
            <a:chOff x="0" y="0"/>
            <a:chExt cx="1917273" cy="1701833"/>
          </a:xfrm>
        </p:grpSpPr>
        <p:sp>
          <p:nvSpPr>
            <p:cNvPr name="Freeform 4" id="4"/>
            <p:cNvSpPr/>
            <p:nvPr/>
          </p:nvSpPr>
          <p:spPr>
            <a:xfrm flipH="false" flipV="false" rot="0">
              <a:off x="0" y="0"/>
              <a:ext cx="1917273" cy="1701833"/>
            </a:xfrm>
            <a:custGeom>
              <a:avLst/>
              <a:gdLst/>
              <a:ahLst/>
              <a:cxnLst/>
              <a:rect r="r" b="b" t="t" l="l"/>
              <a:pathLst>
                <a:path h="1701833" w="1917273">
                  <a:moveTo>
                    <a:pt x="21270" y="0"/>
                  </a:moveTo>
                  <a:lnTo>
                    <a:pt x="1896003" y="0"/>
                  </a:lnTo>
                  <a:cubicBezTo>
                    <a:pt x="1907750" y="0"/>
                    <a:pt x="1917273" y="9523"/>
                    <a:pt x="1917273" y="21270"/>
                  </a:cubicBezTo>
                  <a:lnTo>
                    <a:pt x="1917273" y="1680563"/>
                  </a:lnTo>
                  <a:cubicBezTo>
                    <a:pt x="1917273" y="1692310"/>
                    <a:pt x="1907750" y="1701833"/>
                    <a:pt x="1896003" y="1701833"/>
                  </a:cubicBezTo>
                  <a:lnTo>
                    <a:pt x="21270" y="1701833"/>
                  </a:lnTo>
                  <a:cubicBezTo>
                    <a:pt x="9523" y="1701833"/>
                    <a:pt x="0" y="1692310"/>
                    <a:pt x="0" y="1680563"/>
                  </a:cubicBezTo>
                  <a:lnTo>
                    <a:pt x="0" y="21270"/>
                  </a:lnTo>
                  <a:cubicBezTo>
                    <a:pt x="0" y="9523"/>
                    <a:pt x="9523" y="0"/>
                    <a:pt x="21270" y="0"/>
                  </a:cubicBezTo>
                  <a:close/>
                </a:path>
              </a:pathLst>
            </a:custGeom>
            <a:gradFill rotWithShape="true">
              <a:gsLst>
                <a:gs pos="0">
                  <a:srgbClr val="B992C1">
                    <a:alpha val="100000"/>
                  </a:srgbClr>
                </a:gs>
                <a:gs pos="100000">
                  <a:srgbClr val="0A2C92">
                    <a:alpha val="10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5" id="5"/>
            <p:cNvSpPr txBox="true"/>
            <p:nvPr/>
          </p:nvSpPr>
          <p:spPr>
            <a:xfrm>
              <a:off x="0" y="-85725"/>
              <a:ext cx="1917273" cy="1787558"/>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9659417" y="2879686"/>
            <a:ext cx="7315103" cy="6461648"/>
            <a:chOff x="0" y="0"/>
            <a:chExt cx="1926612" cy="1701833"/>
          </a:xfrm>
        </p:grpSpPr>
        <p:sp>
          <p:nvSpPr>
            <p:cNvPr name="Freeform 7" id="7"/>
            <p:cNvSpPr/>
            <p:nvPr/>
          </p:nvSpPr>
          <p:spPr>
            <a:xfrm flipH="false" flipV="false" rot="0">
              <a:off x="0" y="0"/>
              <a:ext cx="1926611" cy="1701833"/>
            </a:xfrm>
            <a:custGeom>
              <a:avLst/>
              <a:gdLst/>
              <a:ahLst/>
              <a:cxnLst/>
              <a:rect r="r" b="b" t="t" l="l"/>
              <a:pathLst>
                <a:path h="1701833" w="1926611">
                  <a:moveTo>
                    <a:pt x="21167" y="0"/>
                  </a:moveTo>
                  <a:lnTo>
                    <a:pt x="1905445" y="0"/>
                  </a:lnTo>
                  <a:cubicBezTo>
                    <a:pt x="1917135" y="0"/>
                    <a:pt x="1926611" y="9477"/>
                    <a:pt x="1926611" y="21167"/>
                  </a:cubicBezTo>
                  <a:lnTo>
                    <a:pt x="1926611" y="1680666"/>
                  </a:lnTo>
                  <a:cubicBezTo>
                    <a:pt x="1926611" y="1686280"/>
                    <a:pt x="1924381" y="1691664"/>
                    <a:pt x="1920412" y="1695634"/>
                  </a:cubicBezTo>
                  <a:cubicBezTo>
                    <a:pt x="1916442" y="1699603"/>
                    <a:pt x="1911058" y="1701833"/>
                    <a:pt x="1905445" y="1701833"/>
                  </a:cubicBezTo>
                  <a:lnTo>
                    <a:pt x="21167" y="1701833"/>
                  </a:lnTo>
                  <a:cubicBezTo>
                    <a:pt x="15553" y="1701833"/>
                    <a:pt x="10169" y="1699603"/>
                    <a:pt x="6200" y="1695634"/>
                  </a:cubicBezTo>
                  <a:cubicBezTo>
                    <a:pt x="2230" y="1691664"/>
                    <a:pt x="0" y="1686280"/>
                    <a:pt x="0" y="1680666"/>
                  </a:cubicBezTo>
                  <a:lnTo>
                    <a:pt x="0" y="21167"/>
                  </a:lnTo>
                  <a:cubicBezTo>
                    <a:pt x="0" y="15553"/>
                    <a:pt x="2230" y="10169"/>
                    <a:pt x="6200" y="6200"/>
                  </a:cubicBezTo>
                  <a:cubicBezTo>
                    <a:pt x="10169" y="2230"/>
                    <a:pt x="15553" y="0"/>
                    <a:pt x="21167" y="0"/>
                  </a:cubicBezTo>
                  <a:close/>
                </a:path>
              </a:pathLst>
            </a:custGeom>
            <a:gradFill rotWithShape="true">
              <a:gsLst>
                <a:gs pos="0">
                  <a:srgbClr val="B992C1">
                    <a:alpha val="50000"/>
                  </a:srgbClr>
                </a:gs>
                <a:gs pos="100000">
                  <a:srgbClr val="0A2C92">
                    <a:alpha val="5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8" id="8"/>
            <p:cNvSpPr txBox="true"/>
            <p:nvPr/>
          </p:nvSpPr>
          <p:spPr>
            <a:xfrm>
              <a:off x="0" y="-85725"/>
              <a:ext cx="1926612" cy="1787558"/>
            </a:xfrm>
            <a:prstGeom prst="rect">
              <a:avLst/>
            </a:prstGeom>
          </p:spPr>
          <p:txBody>
            <a:bodyPr anchor="ctr" rtlCol="false" tIns="50800" lIns="50800" bIns="50800" rIns="50800"/>
            <a:lstStyle/>
            <a:p>
              <a:pPr algn="ctr">
                <a:lnSpc>
                  <a:spcPts val="3359"/>
                </a:lnSpc>
              </a:pPr>
            </a:p>
          </p:txBody>
        </p:sp>
      </p:grpSp>
      <p:sp>
        <p:nvSpPr>
          <p:cNvPr name="Freeform 9" id="9"/>
          <p:cNvSpPr/>
          <p:nvPr/>
        </p:nvSpPr>
        <p:spPr>
          <a:xfrm flipH="false" flipV="false" rot="0">
            <a:off x="13533314" y="-1843753"/>
            <a:ext cx="6882412" cy="3332235"/>
          </a:xfrm>
          <a:custGeom>
            <a:avLst/>
            <a:gdLst/>
            <a:ahLst/>
            <a:cxnLst/>
            <a:rect r="r" b="b" t="t" l="l"/>
            <a:pathLst>
              <a:path h="3332235" w="6882412">
                <a:moveTo>
                  <a:pt x="0" y="0"/>
                </a:moveTo>
                <a:lnTo>
                  <a:pt x="6882413" y="0"/>
                </a:lnTo>
                <a:lnTo>
                  <a:pt x="6882413" y="3332234"/>
                </a:lnTo>
                <a:lnTo>
                  <a:pt x="0" y="3332234"/>
                </a:lnTo>
                <a:lnTo>
                  <a:pt x="0" y="0"/>
                </a:lnTo>
                <a:close/>
              </a:path>
            </a:pathLst>
          </a:custGeom>
          <a:blipFill>
            <a:blip r:embed="rId3">
              <a:alphaModFix amt="30000"/>
            </a:blip>
            <a:stretch>
              <a:fillRect l="0" t="0" r="0" b="0"/>
            </a:stretch>
          </a:blipFill>
        </p:spPr>
      </p:sp>
      <p:sp>
        <p:nvSpPr>
          <p:cNvPr name="TextBox 10" id="10"/>
          <p:cNvSpPr txBox="true"/>
          <p:nvPr/>
        </p:nvSpPr>
        <p:spPr>
          <a:xfrm rot="0">
            <a:off x="2958587" y="-22207"/>
            <a:ext cx="12370826" cy="2387554"/>
          </a:xfrm>
          <a:prstGeom prst="rect">
            <a:avLst/>
          </a:prstGeom>
        </p:spPr>
        <p:txBody>
          <a:bodyPr anchor="t" rtlCol="false" tIns="0" lIns="0" bIns="0" rIns="0">
            <a:spAutoFit/>
          </a:bodyPr>
          <a:lstStyle/>
          <a:p>
            <a:pPr algn="ctr">
              <a:lnSpc>
                <a:spcPts val="9100"/>
              </a:lnSpc>
            </a:pPr>
            <a:r>
              <a:rPr lang="en-US" sz="6500">
                <a:solidFill>
                  <a:srgbClr val="FFFFFF"/>
                </a:solidFill>
                <a:latin typeface="UID ในตำนาน"/>
                <a:ea typeface="UID ในตำนาน"/>
                <a:cs typeface="UID ในตำนาน"/>
                <a:sym typeface="UID ในตำนาน"/>
              </a:rPr>
              <a:t>การจัดการค่าว่าง </a:t>
            </a:r>
          </a:p>
          <a:p>
            <a:pPr algn="ctr">
              <a:lnSpc>
                <a:spcPts val="9100"/>
              </a:lnSpc>
              <a:spcBef>
                <a:spcPct val="0"/>
              </a:spcBef>
            </a:pPr>
            <a:r>
              <a:rPr lang="en-US" sz="6500">
                <a:solidFill>
                  <a:srgbClr val="FFFFFF"/>
                </a:solidFill>
                <a:latin typeface="UID ในตำนาน"/>
                <a:ea typeface="UID ในตำนาน"/>
                <a:cs typeface="UID ในตำนาน"/>
                <a:sym typeface="UID ในตำนาน"/>
              </a:rPr>
              <a:t>(MISSING VALUE HANDLI</a:t>
            </a:r>
            <a:r>
              <a:rPr lang="en-US" sz="6500">
                <a:solidFill>
                  <a:srgbClr val="FFFFFF"/>
                </a:solidFill>
                <a:latin typeface="UID ในตำนาน"/>
                <a:ea typeface="UID ในตำนาน"/>
                <a:cs typeface="UID ในตำนาน"/>
                <a:sym typeface="UID ในตำนาน"/>
              </a:rPr>
              <a:t>NG) </a:t>
            </a:r>
          </a:p>
        </p:txBody>
      </p:sp>
      <p:sp>
        <p:nvSpPr>
          <p:cNvPr name="TextBox 11" id="11"/>
          <p:cNvSpPr txBox="true"/>
          <p:nvPr/>
        </p:nvSpPr>
        <p:spPr>
          <a:xfrm rot="0">
            <a:off x="1554845" y="4250275"/>
            <a:ext cx="6227356" cy="3919540"/>
          </a:xfrm>
          <a:prstGeom prst="rect">
            <a:avLst/>
          </a:prstGeom>
        </p:spPr>
        <p:txBody>
          <a:bodyPr anchor="t" rtlCol="false" tIns="0" lIns="0" bIns="0" rIns="0">
            <a:spAutoFit/>
          </a:bodyPr>
          <a:lstStyle/>
          <a:p>
            <a:pPr algn="ctr">
              <a:lnSpc>
                <a:spcPts val="4420"/>
              </a:lnSpc>
            </a:pPr>
            <a:r>
              <a:rPr lang="en-US" sz="3400" spc="340">
                <a:solidFill>
                  <a:srgbClr val="FFFFFF"/>
                </a:solidFill>
                <a:latin typeface="UID ในตำนาน"/>
                <a:ea typeface="UID ในตำนาน"/>
                <a:cs typeface="UID ในตำนาน"/>
                <a:sym typeface="UID ในตำนาน"/>
              </a:rPr>
              <a:t>ลบคอลัมน์ที่ไม่จำเป็น: ตรวจสอบร้อยละของค่าว่าง หากคอลัมน์ใดมีค่าว่างสูงเกินเกณฑ์หรือไม่มีผลต่อการวิเคราะห์ข้อความ (เช่น Volume, Issue, Pa</a:t>
            </a:r>
            <a:r>
              <a:rPr lang="en-US" sz="3400" spc="340">
                <a:solidFill>
                  <a:srgbClr val="FFFFFF"/>
                </a:solidFill>
                <a:latin typeface="UID ในตำนาน"/>
                <a:ea typeface="UID ในตำนาน"/>
                <a:cs typeface="UID ในตำนาน"/>
                <a:sym typeface="UID ในตำนาน"/>
              </a:rPr>
              <a:t>ge) จะถูกตัดทิ้งเพื่อลดขนาดหน่วยความจำ</a:t>
            </a:r>
          </a:p>
        </p:txBody>
      </p:sp>
      <p:sp>
        <p:nvSpPr>
          <p:cNvPr name="TextBox 12" id="12"/>
          <p:cNvSpPr txBox="true"/>
          <p:nvPr/>
        </p:nvSpPr>
        <p:spPr>
          <a:xfrm rot="0">
            <a:off x="9954410" y="4250275"/>
            <a:ext cx="6725117" cy="3919540"/>
          </a:xfrm>
          <a:prstGeom prst="rect">
            <a:avLst/>
          </a:prstGeom>
        </p:spPr>
        <p:txBody>
          <a:bodyPr anchor="t" rtlCol="false" tIns="0" lIns="0" bIns="0" rIns="0">
            <a:spAutoFit/>
          </a:bodyPr>
          <a:lstStyle/>
          <a:p>
            <a:pPr algn="ctr">
              <a:lnSpc>
                <a:spcPts val="4420"/>
              </a:lnSpc>
            </a:pPr>
            <a:r>
              <a:rPr lang="en-US" sz="3400" spc="340">
                <a:solidFill>
                  <a:srgbClr val="FFFFFF"/>
                </a:solidFill>
                <a:latin typeface="UID ในตำนาน"/>
                <a:ea typeface="UID ในตำนาน"/>
                <a:cs typeface="UID ในตำนาน"/>
                <a:sym typeface="UID ในตำนาน"/>
              </a:rPr>
              <a:t>เติ</a:t>
            </a:r>
            <a:r>
              <a:rPr lang="en-US" sz="3400" spc="340">
                <a:solidFill>
                  <a:srgbClr val="FFFFFF"/>
                </a:solidFill>
                <a:latin typeface="UID ในตำนาน"/>
                <a:ea typeface="UID ในตำนาน"/>
                <a:cs typeface="UID ในตำนาน"/>
                <a:sym typeface="UID ในตำนาน"/>
              </a:rPr>
              <a:t>มเต็มค่าว่าง (Imputation): คอลัมน์ที่จำเป็นต่อการวิเคราะห์ เช่น Author Keywords หรือ Abstract หากมีค่าว่าง</a:t>
            </a:r>
            <a:r>
              <a:rPr lang="en-US" sz="3400" spc="340">
                <a:solidFill>
                  <a:srgbClr val="FFFFFF"/>
                </a:solidFill>
                <a:latin typeface="UID ในตำนาน"/>
                <a:ea typeface="UID ในตำนาน"/>
                <a:cs typeface="UID ในตำนาน"/>
                <a:sym typeface="UID ในตำนาน"/>
              </a:rPr>
              <a:t> จะถูกเติมด้วยค่าว่างแบบ String (Empty String " ") เพื่อไม่ให้เกิด Error ในขั้นตอนการนำข้อความมาต่อกัน </a:t>
            </a:r>
          </a:p>
        </p:txBody>
      </p:sp>
      <p:grpSp>
        <p:nvGrpSpPr>
          <p:cNvPr name="Group 13" id="13"/>
          <p:cNvGrpSpPr/>
          <p:nvPr/>
        </p:nvGrpSpPr>
        <p:grpSpPr>
          <a:xfrm rot="0">
            <a:off x="3885113" y="2668850"/>
            <a:ext cx="1073583" cy="107358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miter/>
            </a:ln>
          </p:spPr>
        </p:sp>
        <p:sp>
          <p:nvSpPr>
            <p:cNvPr name="TextBox 15" id="15"/>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grpSp>
        <p:nvGrpSpPr>
          <p:cNvPr name="Group 16" id="16"/>
          <p:cNvGrpSpPr/>
          <p:nvPr/>
        </p:nvGrpSpPr>
        <p:grpSpPr>
          <a:xfrm rot="0">
            <a:off x="12780177" y="2668850"/>
            <a:ext cx="1073583" cy="107358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miter/>
            </a:ln>
          </p:spPr>
        </p:sp>
        <p:sp>
          <p:nvSpPr>
            <p:cNvPr name="TextBox 18" id="18"/>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sp>
        <p:nvSpPr>
          <p:cNvPr name="TextBox 19" id="19"/>
          <p:cNvSpPr txBox="true"/>
          <p:nvPr/>
        </p:nvSpPr>
        <p:spPr>
          <a:xfrm rot="0">
            <a:off x="2882264" y="2247917"/>
            <a:ext cx="3079281" cy="1336675"/>
          </a:xfrm>
          <a:prstGeom prst="rect">
            <a:avLst/>
          </a:prstGeom>
        </p:spPr>
        <p:txBody>
          <a:bodyPr anchor="t" rtlCol="false" tIns="0" lIns="0" bIns="0" rIns="0">
            <a:spAutoFit/>
          </a:bodyPr>
          <a:lstStyle/>
          <a:p>
            <a:pPr algn="ctr">
              <a:lnSpc>
                <a:spcPts val="9800"/>
              </a:lnSpc>
              <a:spcBef>
                <a:spcPct val="0"/>
              </a:spcBef>
            </a:pPr>
            <a:r>
              <a:rPr lang="en-US" sz="7000">
                <a:solidFill>
                  <a:srgbClr val="000000"/>
                </a:solidFill>
                <a:latin typeface="UID ในตำนาน"/>
                <a:ea typeface="UID ในตำนาน"/>
                <a:cs typeface="UID ในตำนาน"/>
                <a:sym typeface="UID ในตำนาน"/>
              </a:rPr>
              <a:t>1</a:t>
            </a:r>
          </a:p>
        </p:txBody>
      </p:sp>
      <p:sp>
        <p:nvSpPr>
          <p:cNvPr name="TextBox 20" id="20"/>
          <p:cNvSpPr txBox="true"/>
          <p:nvPr/>
        </p:nvSpPr>
        <p:spPr>
          <a:xfrm rot="0">
            <a:off x="11777328" y="2247917"/>
            <a:ext cx="3079281" cy="1336675"/>
          </a:xfrm>
          <a:prstGeom prst="rect">
            <a:avLst/>
          </a:prstGeom>
        </p:spPr>
        <p:txBody>
          <a:bodyPr anchor="t" rtlCol="false" tIns="0" lIns="0" bIns="0" rIns="0">
            <a:spAutoFit/>
          </a:bodyPr>
          <a:lstStyle/>
          <a:p>
            <a:pPr algn="ctr">
              <a:lnSpc>
                <a:spcPts val="9800"/>
              </a:lnSpc>
              <a:spcBef>
                <a:spcPct val="0"/>
              </a:spcBef>
            </a:pPr>
            <a:r>
              <a:rPr lang="en-US" sz="7000">
                <a:solidFill>
                  <a:srgbClr val="000000"/>
                </a:solidFill>
                <a:latin typeface="UID ในตำนาน"/>
                <a:ea typeface="UID ในตำนาน"/>
                <a:cs typeface="UID ในตำนาน"/>
                <a:sym typeface="UID ในตำนาน"/>
              </a:rPr>
              <a:t>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1181587" y="5681867"/>
            <a:ext cx="11585239" cy="4605133"/>
          </a:xfrm>
          <a:custGeom>
            <a:avLst/>
            <a:gdLst/>
            <a:ahLst/>
            <a:cxnLst/>
            <a:rect r="r" b="b" t="t" l="l"/>
            <a:pathLst>
              <a:path h="4605133" w="11585239">
                <a:moveTo>
                  <a:pt x="0" y="0"/>
                </a:moveTo>
                <a:lnTo>
                  <a:pt x="11585239" y="0"/>
                </a:lnTo>
                <a:lnTo>
                  <a:pt x="11585239" y="4605133"/>
                </a:lnTo>
                <a:lnTo>
                  <a:pt x="0" y="4605133"/>
                </a:lnTo>
                <a:lnTo>
                  <a:pt x="0" y="0"/>
                </a:lnTo>
                <a:close/>
              </a:path>
            </a:pathLst>
          </a:custGeom>
          <a:blipFill>
            <a:blip r:embed="rId2"/>
            <a:stretch>
              <a:fillRect l="0" t="0" r="0" b="0"/>
            </a:stretch>
          </a:blipFill>
        </p:spPr>
      </p:sp>
      <p:sp>
        <p:nvSpPr>
          <p:cNvPr name="Freeform 3" id="3"/>
          <p:cNvSpPr/>
          <p:nvPr/>
        </p:nvSpPr>
        <p:spPr>
          <a:xfrm flipH="false" flipV="false" rot="0">
            <a:off x="13533314" y="-1843753"/>
            <a:ext cx="6882412" cy="3332235"/>
          </a:xfrm>
          <a:custGeom>
            <a:avLst/>
            <a:gdLst/>
            <a:ahLst/>
            <a:cxnLst/>
            <a:rect r="r" b="b" t="t" l="l"/>
            <a:pathLst>
              <a:path h="3332235" w="6882412">
                <a:moveTo>
                  <a:pt x="0" y="0"/>
                </a:moveTo>
                <a:lnTo>
                  <a:pt x="6882413" y="0"/>
                </a:lnTo>
                <a:lnTo>
                  <a:pt x="6882413" y="3332234"/>
                </a:lnTo>
                <a:lnTo>
                  <a:pt x="0" y="3332234"/>
                </a:lnTo>
                <a:lnTo>
                  <a:pt x="0" y="0"/>
                </a:lnTo>
                <a:close/>
              </a:path>
            </a:pathLst>
          </a:custGeom>
          <a:blipFill>
            <a:blip r:embed="rId3">
              <a:alphaModFix amt="30000"/>
            </a:blip>
            <a:stretch>
              <a:fillRect l="0" t="0" r="0" b="0"/>
            </a:stretch>
          </a:blipFill>
        </p:spPr>
      </p:sp>
      <p:sp>
        <p:nvSpPr>
          <p:cNvPr name="Freeform 4" id="4"/>
          <p:cNvSpPr/>
          <p:nvPr/>
        </p:nvSpPr>
        <p:spPr>
          <a:xfrm flipH="false" flipV="false" rot="0">
            <a:off x="7613787" y="433809"/>
            <a:ext cx="9384781" cy="9371977"/>
          </a:xfrm>
          <a:custGeom>
            <a:avLst/>
            <a:gdLst/>
            <a:ahLst/>
            <a:cxnLst/>
            <a:rect r="r" b="b" t="t" l="l"/>
            <a:pathLst>
              <a:path h="9371977" w="9384781">
                <a:moveTo>
                  <a:pt x="0" y="0"/>
                </a:moveTo>
                <a:lnTo>
                  <a:pt x="9384781" y="0"/>
                </a:lnTo>
                <a:lnTo>
                  <a:pt x="9384781" y="9371977"/>
                </a:lnTo>
                <a:lnTo>
                  <a:pt x="0" y="9371977"/>
                </a:lnTo>
                <a:lnTo>
                  <a:pt x="0" y="0"/>
                </a:lnTo>
                <a:close/>
              </a:path>
            </a:pathLst>
          </a:custGeom>
          <a:blipFill>
            <a:blip r:embed="rId4"/>
            <a:stretch>
              <a:fillRect l="0" t="0" r="0" b="0"/>
            </a:stretch>
          </a:blipFill>
        </p:spPr>
      </p:sp>
      <p:sp>
        <p:nvSpPr>
          <p:cNvPr name="TextBox 5" id="5"/>
          <p:cNvSpPr txBox="true"/>
          <p:nvPr/>
        </p:nvSpPr>
        <p:spPr>
          <a:xfrm rot="0">
            <a:off x="-362138" y="465940"/>
            <a:ext cx="7694563" cy="3221989"/>
          </a:xfrm>
          <a:prstGeom prst="rect">
            <a:avLst/>
          </a:prstGeom>
        </p:spPr>
        <p:txBody>
          <a:bodyPr anchor="t" rtlCol="false" tIns="0" lIns="0" bIns="0" rIns="0">
            <a:spAutoFit/>
          </a:bodyPr>
          <a:lstStyle/>
          <a:p>
            <a:pPr algn="ctr">
              <a:lnSpc>
                <a:spcPts val="8260"/>
              </a:lnSpc>
            </a:pPr>
            <a:r>
              <a:rPr lang="en-US" sz="5900">
                <a:solidFill>
                  <a:srgbClr val="FFFFFF"/>
                </a:solidFill>
                <a:latin typeface="UID ในตำนาน"/>
                <a:ea typeface="UID ในตำนาน"/>
                <a:cs typeface="UID ในตำนาน"/>
                <a:sym typeface="UID ในตำนาน"/>
              </a:rPr>
              <a:t>การจัดการค่าว่าง </a:t>
            </a:r>
          </a:p>
          <a:p>
            <a:pPr algn="ctr">
              <a:lnSpc>
                <a:spcPts val="8260"/>
              </a:lnSpc>
              <a:spcBef>
                <a:spcPct val="0"/>
              </a:spcBef>
            </a:pPr>
            <a:r>
              <a:rPr lang="en-US" sz="5900">
                <a:solidFill>
                  <a:srgbClr val="FFFFFF"/>
                </a:solidFill>
                <a:latin typeface="UID ในตำนาน"/>
                <a:ea typeface="UID ในตำนาน"/>
                <a:cs typeface="UID ในตำนาน"/>
                <a:sym typeface="UID ในตำนาน"/>
              </a:rPr>
              <a:t>(MISSING VALUE HANDLI</a:t>
            </a:r>
            <a:r>
              <a:rPr lang="en-US" sz="5900">
                <a:solidFill>
                  <a:srgbClr val="FFFFFF"/>
                </a:solidFill>
                <a:latin typeface="UID ในตำนาน"/>
                <a:ea typeface="UID ในตำนาน"/>
                <a:cs typeface="UID ในตำนาน"/>
                <a:sym typeface="UID ในตำนาน"/>
              </a:rPr>
              <a:t>NG)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078685" y="2480194"/>
            <a:ext cx="14766503" cy="2816513"/>
            <a:chOff x="0" y="0"/>
            <a:chExt cx="3889120" cy="741798"/>
          </a:xfrm>
        </p:grpSpPr>
        <p:sp>
          <p:nvSpPr>
            <p:cNvPr name="Freeform 3" id="3"/>
            <p:cNvSpPr/>
            <p:nvPr/>
          </p:nvSpPr>
          <p:spPr>
            <a:xfrm flipH="false" flipV="false" rot="0">
              <a:off x="0" y="0"/>
              <a:ext cx="3889120" cy="741798"/>
            </a:xfrm>
            <a:custGeom>
              <a:avLst/>
              <a:gdLst/>
              <a:ahLst/>
              <a:cxnLst/>
              <a:rect r="r" b="b" t="t" l="l"/>
              <a:pathLst>
                <a:path h="741798" w="3889120">
                  <a:moveTo>
                    <a:pt x="10486" y="0"/>
                  </a:moveTo>
                  <a:lnTo>
                    <a:pt x="3878635" y="0"/>
                  </a:lnTo>
                  <a:cubicBezTo>
                    <a:pt x="3884426" y="0"/>
                    <a:pt x="3889120" y="4695"/>
                    <a:pt x="3889120" y="10486"/>
                  </a:cubicBezTo>
                  <a:lnTo>
                    <a:pt x="3889120" y="731312"/>
                  </a:lnTo>
                  <a:cubicBezTo>
                    <a:pt x="3889120" y="734093"/>
                    <a:pt x="3888016" y="736760"/>
                    <a:pt x="3886049" y="738726"/>
                  </a:cubicBezTo>
                  <a:cubicBezTo>
                    <a:pt x="3884083" y="740693"/>
                    <a:pt x="3881415" y="741798"/>
                    <a:pt x="3878635" y="741798"/>
                  </a:cubicBezTo>
                  <a:lnTo>
                    <a:pt x="10486" y="741798"/>
                  </a:lnTo>
                  <a:cubicBezTo>
                    <a:pt x="4695" y="741798"/>
                    <a:pt x="0" y="737103"/>
                    <a:pt x="0" y="731312"/>
                  </a:cubicBezTo>
                  <a:lnTo>
                    <a:pt x="0" y="10486"/>
                  </a:lnTo>
                  <a:cubicBezTo>
                    <a:pt x="0" y="4695"/>
                    <a:pt x="4695" y="0"/>
                    <a:pt x="10486" y="0"/>
                  </a:cubicBezTo>
                  <a:close/>
                </a:path>
              </a:pathLst>
            </a:custGeom>
            <a:gradFill rotWithShape="true">
              <a:gsLst>
                <a:gs pos="0">
                  <a:srgbClr val="B992C1">
                    <a:alpha val="50000"/>
                  </a:srgbClr>
                </a:gs>
                <a:gs pos="100000">
                  <a:srgbClr val="0A2C92">
                    <a:alpha val="50000"/>
                  </a:srgbClr>
                </a:gs>
              </a:gsLst>
              <a:lin ang="0"/>
            </a:gradFill>
            <a:ln w="47625" cap="sq">
              <a:gradFill>
                <a:gsLst>
                  <a:gs pos="0">
                    <a:srgbClr val="FFFFFF">
                      <a:alpha val="100000"/>
                    </a:srgbClr>
                  </a:gs>
                  <a:gs pos="50000">
                    <a:srgbClr val="0A2C92">
                      <a:alpha val="100000"/>
                    </a:srgbClr>
                  </a:gs>
                  <a:gs pos="100000">
                    <a:srgbClr val="B992C1">
                      <a:alpha val="0"/>
                    </a:srgbClr>
                  </a:gs>
                </a:gsLst>
                <a:path path="circle">
                  <a:fillToRect l="0" r="100000" t="0" b="100000"/>
                </a:path>
                <a:tileRect r="0" l="-100000" b="0" t="-100000"/>
              </a:gradFill>
              <a:prstDash val="solid"/>
              <a:miter/>
            </a:ln>
          </p:spPr>
        </p:sp>
        <p:sp>
          <p:nvSpPr>
            <p:cNvPr name="TextBox 4" id="4"/>
            <p:cNvSpPr txBox="true"/>
            <p:nvPr/>
          </p:nvSpPr>
          <p:spPr>
            <a:xfrm>
              <a:off x="0" y="-85725"/>
              <a:ext cx="3889120" cy="827523"/>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2526623" y="-4565918"/>
            <a:ext cx="16230600" cy="7851553"/>
          </a:xfrm>
          <a:custGeom>
            <a:avLst/>
            <a:gdLst/>
            <a:ahLst/>
            <a:cxnLst/>
            <a:rect r="r" b="b" t="t" l="l"/>
            <a:pathLst>
              <a:path h="7851553" w="16230600">
                <a:moveTo>
                  <a:pt x="0" y="0"/>
                </a:moveTo>
                <a:lnTo>
                  <a:pt x="16230600" y="0"/>
                </a:lnTo>
                <a:lnTo>
                  <a:pt x="16230600" y="7851553"/>
                </a:lnTo>
                <a:lnTo>
                  <a:pt x="0" y="7851553"/>
                </a:lnTo>
                <a:lnTo>
                  <a:pt x="0" y="0"/>
                </a:lnTo>
                <a:close/>
              </a:path>
            </a:pathLst>
          </a:custGeom>
          <a:blipFill>
            <a:blip r:embed="rId2"/>
            <a:stretch>
              <a:fillRect l="0" t="0" r="0" b="0"/>
            </a:stretch>
          </a:blipFill>
        </p:spPr>
      </p:sp>
      <p:sp>
        <p:nvSpPr>
          <p:cNvPr name="AutoShape 6" id="6"/>
          <p:cNvSpPr/>
          <p:nvPr/>
        </p:nvSpPr>
        <p:spPr>
          <a:xfrm flipH="true">
            <a:off x="1178626" y="2033128"/>
            <a:ext cx="15592504" cy="0"/>
          </a:xfrm>
          <a:prstGeom prst="line">
            <a:avLst/>
          </a:prstGeom>
          <a:ln cap="flat" w="38100">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headEnd type="none" len="sm" w="sm"/>
            <a:tailEnd type="none" len="sm" w="sm"/>
          </a:ln>
        </p:spPr>
      </p:sp>
      <p:sp>
        <p:nvSpPr>
          <p:cNvPr name="Freeform 7" id="7"/>
          <p:cNvSpPr/>
          <p:nvPr/>
        </p:nvSpPr>
        <p:spPr>
          <a:xfrm flipH="false" flipV="false" rot="0">
            <a:off x="4094132" y="5487412"/>
            <a:ext cx="10099736" cy="3770888"/>
          </a:xfrm>
          <a:custGeom>
            <a:avLst/>
            <a:gdLst/>
            <a:ahLst/>
            <a:cxnLst/>
            <a:rect r="r" b="b" t="t" l="l"/>
            <a:pathLst>
              <a:path h="3770888" w="10099736">
                <a:moveTo>
                  <a:pt x="0" y="0"/>
                </a:moveTo>
                <a:lnTo>
                  <a:pt x="10099736" y="0"/>
                </a:lnTo>
                <a:lnTo>
                  <a:pt x="10099736" y="3770888"/>
                </a:lnTo>
                <a:lnTo>
                  <a:pt x="0" y="3770888"/>
                </a:lnTo>
                <a:lnTo>
                  <a:pt x="0" y="0"/>
                </a:lnTo>
                <a:close/>
              </a:path>
            </a:pathLst>
          </a:custGeom>
          <a:blipFill>
            <a:blip r:embed="rId3"/>
            <a:stretch>
              <a:fillRect l="0" t="0" r="0" b="0"/>
            </a:stretch>
          </a:blipFill>
        </p:spPr>
      </p:sp>
      <p:sp>
        <p:nvSpPr>
          <p:cNvPr name="TextBox 8" id="8"/>
          <p:cNvSpPr txBox="true"/>
          <p:nvPr/>
        </p:nvSpPr>
        <p:spPr>
          <a:xfrm rot="0">
            <a:off x="2246156" y="2646839"/>
            <a:ext cx="14394268" cy="2773680"/>
          </a:xfrm>
          <a:prstGeom prst="rect">
            <a:avLst/>
          </a:prstGeom>
        </p:spPr>
        <p:txBody>
          <a:bodyPr anchor="t" rtlCol="false" tIns="0" lIns="0" bIns="0" rIns="0">
            <a:spAutoFit/>
          </a:bodyPr>
          <a:lstStyle/>
          <a:p>
            <a:pPr algn="l" marL="453395" indent="-226697" lvl="1">
              <a:lnSpc>
                <a:spcPts val="2730"/>
              </a:lnSpc>
              <a:buFont typeface="Arial"/>
              <a:buChar char="•"/>
            </a:pPr>
            <a:r>
              <a:rPr lang="en-US" sz="2100" spc="210">
                <a:solidFill>
                  <a:srgbClr val="FFFFFF"/>
                </a:solidFill>
                <a:latin typeface="UID ในตำนาน"/>
                <a:ea typeface="UID ในตำนาน"/>
                <a:cs typeface="UID ในตำนาน"/>
                <a:sym typeface="UID ในตำนาน"/>
              </a:rPr>
              <a:t>Case Folding: เปลี่ยนอักษรตัวพิมพ์ใหญ่ให้เป็นตัวพิมพ์เล็กทั้งหมด</a:t>
            </a:r>
          </a:p>
          <a:p>
            <a:pPr algn="l" marL="453395" indent="-226697" lvl="1">
              <a:lnSpc>
                <a:spcPts val="2730"/>
              </a:lnSpc>
              <a:buFont typeface="Arial"/>
              <a:buChar char="•"/>
            </a:pPr>
            <a:r>
              <a:rPr lang="en-US" sz="2100" spc="210">
                <a:solidFill>
                  <a:srgbClr val="FFFFFF"/>
                </a:solidFill>
                <a:latin typeface="UID ในตำนาน"/>
                <a:ea typeface="UID ในตำนาน"/>
                <a:cs typeface="UID ในตำนาน"/>
                <a:sym typeface="UID ในตำนาน"/>
              </a:rPr>
              <a:t>Noise Removal: ใช้ Regular Expression (Regex) ลบตัวเลข เครื่องหมายวรรคตอน และอักขระพิเศษออก </a:t>
            </a:r>
          </a:p>
          <a:p>
            <a:pPr algn="l" marL="453395" indent="-226697" lvl="1">
              <a:lnSpc>
                <a:spcPts val="2730"/>
              </a:lnSpc>
              <a:buFont typeface="Arial"/>
              <a:buChar char="•"/>
            </a:pPr>
            <a:r>
              <a:rPr lang="en-US" sz="2100" spc="210">
                <a:solidFill>
                  <a:srgbClr val="FFFFFF"/>
                </a:solidFill>
                <a:latin typeface="UID ในตำนาน"/>
                <a:ea typeface="UID ในตำนาน"/>
                <a:cs typeface="UID ในตำนาน"/>
                <a:sym typeface="UID ในตำนาน"/>
              </a:rPr>
              <a:t>Copyright Stripping: กำหนด Regex เพื่อสกัดและตัดประโยคประกาศลิขสิทธิ์ของสำนักพิมพ์ (เช่น ข้อความที่เริ่มด้วยคำว่า Copyright, Springer, Nature) ออกจากส่วนท้ายของบทคัดย่อ เนื่องจากเป็นคำขยะ (Noise) ที่ไม่มีความหมายทางวิทยาศาสตร์ </a:t>
            </a:r>
          </a:p>
          <a:p>
            <a:pPr algn="l" marL="453395" indent="-226697" lvl="1">
              <a:lnSpc>
                <a:spcPts val="2730"/>
              </a:lnSpc>
              <a:buFont typeface="Arial"/>
              <a:buChar char="•"/>
            </a:pPr>
            <a:r>
              <a:rPr lang="en-US" sz="2100" spc="210">
                <a:solidFill>
                  <a:srgbClr val="FFFFFF"/>
                </a:solidFill>
                <a:latin typeface="UID ในตำนาน"/>
                <a:ea typeface="UID ในตำนาน"/>
                <a:cs typeface="UID ในตำนาน"/>
                <a:sym typeface="UID ในตำนาน"/>
              </a:rPr>
              <a:t>Stop Word Removal: ใช้ไลบรารี NLTK กรองคำเชื่อมภาษาอังกฤษ (เช่น a, an, the, is, in) ออก เพื่อให้โมเดลโฟกัสเฉพาะคำศัพท์สำคัญ</a:t>
            </a:r>
          </a:p>
          <a:p>
            <a:pPr algn="l">
              <a:lnSpc>
                <a:spcPts val="2730"/>
              </a:lnSpc>
            </a:pPr>
          </a:p>
        </p:txBody>
      </p:sp>
      <p:sp>
        <p:nvSpPr>
          <p:cNvPr name="TextBox 9" id="9"/>
          <p:cNvSpPr txBox="true"/>
          <p:nvPr/>
        </p:nvSpPr>
        <p:spPr>
          <a:xfrm rot="0">
            <a:off x="1121215" y="824088"/>
            <a:ext cx="16681444" cy="1209040"/>
          </a:xfrm>
          <a:prstGeom prst="rect">
            <a:avLst/>
          </a:prstGeom>
        </p:spPr>
        <p:txBody>
          <a:bodyPr anchor="t" rtlCol="false" tIns="0" lIns="0" bIns="0" rIns="0">
            <a:spAutoFit/>
          </a:bodyPr>
          <a:lstStyle/>
          <a:p>
            <a:pPr algn="ctr">
              <a:lnSpc>
                <a:spcPts val="8959"/>
              </a:lnSpc>
              <a:spcBef>
                <a:spcPct val="0"/>
              </a:spcBef>
            </a:pPr>
            <a:r>
              <a:rPr lang="en-US" sz="6399">
                <a:solidFill>
                  <a:srgbClr val="FFFFFF"/>
                </a:solidFill>
                <a:latin typeface="UID ในตำนาน"/>
                <a:ea typeface="UID ในตำนาน"/>
                <a:cs typeface="UID ในตำนาน"/>
                <a:sym typeface="UID ในตำนาน"/>
              </a:rPr>
              <a:t>การทำความสะอาดข้อความ (TEXT PREPROCESSING)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664434" y="4416768"/>
            <a:ext cx="16230600" cy="6600444"/>
          </a:xfrm>
          <a:custGeom>
            <a:avLst/>
            <a:gdLst/>
            <a:ahLst/>
            <a:cxnLst/>
            <a:rect r="r" b="b" t="t" l="l"/>
            <a:pathLst>
              <a:path h="6600444" w="16230600">
                <a:moveTo>
                  <a:pt x="16230600" y="0"/>
                </a:moveTo>
                <a:lnTo>
                  <a:pt x="0" y="0"/>
                </a:lnTo>
                <a:lnTo>
                  <a:pt x="0" y="6600444"/>
                </a:lnTo>
                <a:lnTo>
                  <a:pt x="16230600" y="6600444"/>
                </a:lnTo>
                <a:lnTo>
                  <a:pt x="16230600" y="0"/>
                </a:lnTo>
                <a:close/>
              </a:path>
            </a:pathLst>
          </a:custGeom>
          <a:blipFill>
            <a:blip r:embed="rId2"/>
            <a:stretch>
              <a:fillRect l="0" t="0" r="0" b="0"/>
            </a:stretch>
          </a:blipFill>
        </p:spPr>
      </p:sp>
      <p:grpSp>
        <p:nvGrpSpPr>
          <p:cNvPr name="Group 3" id="3"/>
          <p:cNvGrpSpPr/>
          <p:nvPr/>
        </p:nvGrpSpPr>
        <p:grpSpPr>
          <a:xfrm rot="0">
            <a:off x="820814" y="4473291"/>
            <a:ext cx="5377222" cy="3775908"/>
            <a:chOff x="0" y="0"/>
            <a:chExt cx="1416223" cy="994478"/>
          </a:xfrm>
        </p:grpSpPr>
        <p:sp>
          <p:nvSpPr>
            <p:cNvPr name="Freeform 4" id="4"/>
            <p:cNvSpPr/>
            <p:nvPr/>
          </p:nvSpPr>
          <p:spPr>
            <a:xfrm flipH="false" flipV="false" rot="0">
              <a:off x="0" y="0"/>
              <a:ext cx="1416223" cy="994478"/>
            </a:xfrm>
            <a:custGeom>
              <a:avLst/>
              <a:gdLst/>
              <a:ahLst/>
              <a:cxnLst/>
              <a:rect r="r" b="b" t="t" l="l"/>
              <a:pathLst>
                <a:path h="994478" w="1416223">
                  <a:moveTo>
                    <a:pt x="28795" y="0"/>
                  </a:moveTo>
                  <a:lnTo>
                    <a:pt x="1387428" y="0"/>
                  </a:lnTo>
                  <a:cubicBezTo>
                    <a:pt x="1395065" y="0"/>
                    <a:pt x="1402389" y="3034"/>
                    <a:pt x="1407789" y="8434"/>
                  </a:cubicBezTo>
                  <a:cubicBezTo>
                    <a:pt x="1413189" y="13834"/>
                    <a:pt x="1416223" y="21158"/>
                    <a:pt x="1416223" y="28795"/>
                  </a:cubicBezTo>
                  <a:lnTo>
                    <a:pt x="1416223" y="965683"/>
                  </a:lnTo>
                  <a:cubicBezTo>
                    <a:pt x="1416223" y="973319"/>
                    <a:pt x="1413189" y="980644"/>
                    <a:pt x="1407789" y="986044"/>
                  </a:cubicBezTo>
                  <a:cubicBezTo>
                    <a:pt x="1402389" y="991444"/>
                    <a:pt x="1395065" y="994478"/>
                    <a:pt x="1387428" y="994478"/>
                  </a:cubicBezTo>
                  <a:lnTo>
                    <a:pt x="28795" y="994478"/>
                  </a:lnTo>
                  <a:cubicBezTo>
                    <a:pt x="12892" y="994478"/>
                    <a:pt x="0" y="981586"/>
                    <a:pt x="0" y="965683"/>
                  </a:cubicBezTo>
                  <a:lnTo>
                    <a:pt x="0" y="28795"/>
                  </a:lnTo>
                  <a:cubicBezTo>
                    <a:pt x="0" y="21158"/>
                    <a:pt x="3034" y="13834"/>
                    <a:pt x="8434" y="8434"/>
                  </a:cubicBezTo>
                  <a:cubicBezTo>
                    <a:pt x="13834" y="3034"/>
                    <a:pt x="21158" y="0"/>
                    <a:pt x="28795" y="0"/>
                  </a:cubicBezTo>
                  <a:close/>
                </a:path>
              </a:pathLst>
            </a:custGeom>
            <a:gradFill rotWithShape="true">
              <a:gsLst>
                <a:gs pos="0">
                  <a:srgbClr val="B992C1">
                    <a:alpha val="50000"/>
                  </a:srgbClr>
                </a:gs>
                <a:gs pos="100000">
                  <a:srgbClr val="0A2C92">
                    <a:alpha val="5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5" id="5"/>
            <p:cNvSpPr txBox="true"/>
            <p:nvPr/>
          </p:nvSpPr>
          <p:spPr>
            <a:xfrm>
              <a:off x="0" y="-85725"/>
              <a:ext cx="1416223" cy="1080203"/>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6464157" y="4473291"/>
            <a:ext cx="5377222" cy="3775908"/>
            <a:chOff x="0" y="0"/>
            <a:chExt cx="1416223" cy="994478"/>
          </a:xfrm>
        </p:grpSpPr>
        <p:sp>
          <p:nvSpPr>
            <p:cNvPr name="Freeform 7" id="7"/>
            <p:cNvSpPr/>
            <p:nvPr/>
          </p:nvSpPr>
          <p:spPr>
            <a:xfrm flipH="false" flipV="false" rot="0">
              <a:off x="0" y="0"/>
              <a:ext cx="1416223" cy="994478"/>
            </a:xfrm>
            <a:custGeom>
              <a:avLst/>
              <a:gdLst/>
              <a:ahLst/>
              <a:cxnLst/>
              <a:rect r="r" b="b" t="t" l="l"/>
              <a:pathLst>
                <a:path h="994478" w="1416223">
                  <a:moveTo>
                    <a:pt x="28795" y="0"/>
                  </a:moveTo>
                  <a:lnTo>
                    <a:pt x="1387428" y="0"/>
                  </a:lnTo>
                  <a:cubicBezTo>
                    <a:pt x="1395065" y="0"/>
                    <a:pt x="1402389" y="3034"/>
                    <a:pt x="1407789" y="8434"/>
                  </a:cubicBezTo>
                  <a:cubicBezTo>
                    <a:pt x="1413189" y="13834"/>
                    <a:pt x="1416223" y="21158"/>
                    <a:pt x="1416223" y="28795"/>
                  </a:cubicBezTo>
                  <a:lnTo>
                    <a:pt x="1416223" y="965683"/>
                  </a:lnTo>
                  <a:cubicBezTo>
                    <a:pt x="1416223" y="973319"/>
                    <a:pt x="1413189" y="980644"/>
                    <a:pt x="1407789" y="986044"/>
                  </a:cubicBezTo>
                  <a:cubicBezTo>
                    <a:pt x="1402389" y="991444"/>
                    <a:pt x="1395065" y="994478"/>
                    <a:pt x="1387428" y="994478"/>
                  </a:cubicBezTo>
                  <a:lnTo>
                    <a:pt x="28795" y="994478"/>
                  </a:lnTo>
                  <a:cubicBezTo>
                    <a:pt x="12892" y="994478"/>
                    <a:pt x="0" y="981586"/>
                    <a:pt x="0" y="965683"/>
                  </a:cubicBezTo>
                  <a:lnTo>
                    <a:pt x="0" y="28795"/>
                  </a:lnTo>
                  <a:cubicBezTo>
                    <a:pt x="0" y="21158"/>
                    <a:pt x="3034" y="13834"/>
                    <a:pt x="8434" y="8434"/>
                  </a:cubicBezTo>
                  <a:cubicBezTo>
                    <a:pt x="13834" y="3034"/>
                    <a:pt x="21158" y="0"/>
                    <a:pt x="28795" y="0"/>
                  </a:cubicBezTo>
                  <a:close/>
                </a:path>
              </a:pathLst>
            </a:custGeom>
            <a:gradFill rotWithShape="true">
              <a:gsLst>
                <a:gs pos="0">
                  <a:srgbClr val="B992C1">
                    <a:alpha val="50000"/>
                  </a:srgbClr>
                </a:gs>
                <a:gs pos="100000">
                  <a:srgbClr val="0A2C92">
                    <a:alpha val="5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8" id="8"/>
            <p:cNvSpPr txBox="true"/>
            <p:nvPr/>
          </p:nvSpPr>
          <p:spPr>
            <a:xfrm>
              <a:off x="0" y="-85725"/>
              <a:ext cx="1416223" cy="1080203"/>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2882459" y="3846325"/>
            <a:ext cx="1253932" cy="125393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miter/>
            </a:ln>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grpSp>
        <p:nvGrpSpPr>
          <p:cNvPr name="Group 12" id="12"/>
          <p:cNvGrpSpPr/>
          <p:nvPr/>
        </p:nvGrpSpPr>
        <p:grpSpPr>
          <a:xfrm rot="0">
            <a:off x="8525802" y="3846325"/>
            <a:ext cx="1253932" cy="125393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miter/>
            </a:ln>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grpSp>
        <p:nvGrpSpPr>
          <p:cNvPr name="Group 15" id="15"/>
          <p:cNvGrpSpPr/>
          <p:nvPr/>
        </p:nvGrpSpPr>
        <p:grpSpPr>
          <a:xfrm rot="0">
            <a:off x="12107500" y="4473291"/>
            <a:ext cx="5377222" cy="3775908"/>
            <a:chOff x="0" y="0"/>
            <a:chExt cx="1416223" cy="994478"/>
          </a:xfrm>
        </p:grpSpPr>
        <p:sp>
          <p:nvSpPr>
            <p:cNvPr name="Freeform 16" id="16"/>
            <p:cNvSpPr/>
            <p:nvPr/>
          </p:nvSpPr>
          <p:spPr>
            <a:xfrm flipH="false" flipV="false" rot="0">
              <a:off x="0" y="0"/>
              <a:ext cx="1416223" cy="994478"/>
            </a:xfrm>
            <a:custGeom>
              <a:avLst/>
              <a:gdLst/>
              <a:ahLst/>
              <a:cxnLst/>
              <a:rect r="r" b="b" t="t" l="l"/>
              <a:pathLst>
                <a:path h="994478" w="1416223">
                  <a:moveTo>
                    <a:pt x="28795" y="0"/>
                  </a:moveTo>
                  <a:lnTo>
                    <a:pt x="1387428" y="0"/>
                  </a:lnTo>
                  <a:cubicBezTo>
                    <a:pt x="1395065" y="0"/>
                    <a:pt x="1402389" y="3034"/>
                    <a:pt x="1407789" y="8434"/>
                  </a:cubicBezTo>
                  <a:cubicBezTo>
                    <a:pt x="1413189" y="13834"/>
                    <a:pt x="1416223" y="21158"/>
                    <a:pt x="1416223" y="28795"/>
                  </a:cubicBezTo>
                  <a:lnTo>
                    <a:pt x="1416223" y="965683"/>
                  </a:lnTo>
                  <a:cubicBezTo>
                    <a:pt x="1416223" y="973319"/>
                    <a:pt x="1413189" y="980644"/>
                    <a:pt x="1407789" y="986044"/>
                  </a:cubicBezTo>
                  <a:cubicBezTo>
                    <a:pt x="1402389" y="991444"/>
                    <a:pt x="1395065" y="994478"/>
                    <a:pt x="1387428" y="994478"/>
                  </a:cubicBezTo>
                  <a:lnTo>
                    <a:pt x="28795" y="994478"/>
                  </a:lnTo>
                  <a:cubicBezTo>
                    <a:pt x="12892" y="994478"/>
                    <a:pt x="0" y="981586"/>
                    <a:pt x="0" y="965683"/>
                  </a:cubicBezTo>
                  <a:lnTo>
                    <a:pt x="0" y="28795"/>
                  </a:lnTo>
                  <a:cubicBezTo>
                    <a:pt x="0" y="21158"/>
                    <a:pt x="3034" y="13834"/>
                    <a:pt x="8434" y="8434"/>
                  </a:cubicBezTo>
                  <a:cubicBezTo>
                    <a:pt x="13834" y="3034"/>
                    <a:pt x="21158" y="0"/>
                    <a:pt x="28795" y="0"/>
                  </a:cubicBezTo>
                  <a:close/>
                </a:path>
              </a:pathLst>
            </a:custGeom>
            <a:gradFill rotWithShape="true">
              <a:gsLst>
                <a:gs pos="0">
                  <a:srgbClr val="B992C1">
                    <a:alpha val="100000"/>
                  </a:srgbClr>
                </a:gs>
                <a:gs pos="100000">
                  <a:srgbClr val="0A2C92">
                    <a:alpha val="10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17" id="17"/>
            <p:cNvSpPr txBox="true"/>
            <p:nvPr/>
          </p:nvSpPr>
          <p:spPr>
            <a:xfrm>
              <a:off x="0" y="-85725"/>
              <a:ext cx="1416223" cy="1080203"/>
            </a:xfrm>
            <a:prstGeom prst="rect">
              <a:avLst/>
            </a:prstGeom>
          </p:spPr>
          <p:txBody>
            <a:bodyPr anchor="ctr" rtlCol="false" tIns="50800" lIns="50800" bIns="50800" rIns="50800"/>
            <a:lstStyle/>
            <a:p>
              <a:pPr algn="ctr">
                <a:lnSpc>
                  <a:spcPts val="3359"/>
                </a:lnSpc>
              </a:pPr>
            </a:p>
          </p:txBody>
        </p:sp>
      </p:grpSp>
      <p:grpSp>
        <p:nvGrpSpPr>
          <p:cNvPr name="Group 18" id="18"/>
          <p:cNvGrpSpPr/>
          <p:nvPr/>
        </p:nvGrpSpPr>
        <p:grpSpPr>
          <a:xfrm rot="0">
            <a:off x="14169145" y="3846325"/>
            <a:ext cx="1253932" cy="125393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47625" cap="sq">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miter/>
            </a:ln>
          </p:spPr>
        </p:sp>
        <p:sp>
          <p:nvSpPr>
            <p:cNvPr name="TextBox 20" id="20"/>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sp>
        <p:nvSpPr>
          <p:cNvPr name="AutoShape 21" id="21"/>
          <p:cNvSpPr/>
          <p:nvPr/>
        </p:nvSpPr>
        <p:spPr>
          <a:xfrm flipH="true" flipV="true">
            <a:off x="1159362" y="1943100"/>
            <a:ext cx="16194697" cy="56515"/>
          </a:xfrm>
          <a:prstGeom prst="line">
            <a:avLst/>
          </a:prstGeom>
          <a:ln cap="flat" w="38100">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headEnd type="none" len="sm" w="sm"/>
            <a:tailEnd type="none" len="sm" w="sm"/>
          </a:ln>
        </p:spPr>
      </p:sp>
      <p:sp>
        <p:nvSpPr>
          <p:cNvPr name="Freeform 22" id="22"/>
          <p:cNvSpPr/>
          <p:nvPr/>
        </p:nvSpPr>
        <p:spPr>
          <a:xfrm flipH="false" flipV="false" rot="0">
            <a:off x="3055840" y="4019707"/>
            <a:ext cx="907169" cy="907169"/>
          </a:xfrm>
          <a:custGeom>
            <a:avLst/>
            <a:gdLst/>
            <a:ahLst/>
            <a:cxnLst/>
            <a:rect r="r" b="b" t="t" l="l"/>
            <a:pathLst>
              <a:path h="907169" w="907169">
                <a:moveTo>
                  <a:pt x="0" y="0"/>
                </a:moveTo>
                <a:lnTo>
                  <a:pt x="907169" y="0"/>
                </a:lnTo>
                <a:lnTo>
                  <a:pt x="907169" y="907169"/>
                </a:lnTo>
                <a:lnTo>
                  <a:pt x="0" y="9071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3" id="23"/>
          <p:cNvSpPr/>
          <p:nvPr/>
        </p:nvSpPr>
        <p:spPr>
          <a:xfrm flipH="false" flipV="false" rot="0">
            <a:off x="8797668" y="4230858"/>
            <a:ext cx="692665" cy="484865"/>
          </a:xfrm>
          <a:custGeom>
            <a:avLst/>
            <a:gdLst/>
            <a:ahLst/>
            <a:cxnLst/>
            <a:rect r="r" b="b" t="t" l="l"/>
            <a:pathLst>
              <a:path h="484865" w="692665">
                <a:moveTo>
                  <a:pt x="0" y="0"/>
                </a:moveTo>
                <a:lnTo>
                  <a:pt x="692664" y="0"/>
                </a:lnTo>
                <a:lnTo>
                  <a:pt x="692664" y="484866"/>
                </a:lnTo>
                <a:lnTo>
                  <a:pt x="0" y="4848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4483387" y="4230858"/>
            <a:ext cx="625449" cy="522250"/>
          </a:xfrm>
          <a:custGeom>
            <a:avLst/>
            <a:gdLst/>
            <a:ahLst/>
            <a:cxnLst/>
            <a:rect r="r" b="b" t="t" l="l"/>
            <a:pathLst>
              <a:path h="522250" w="625449">
                <a:moveTo>
                  <a:pt x="0" y="0"/>
                </a:moveTo>
                <a:lnTo>
                  <a:pt x="625448" y="0"/>
                </a:lnTo>
                <a:lnTo>
                  <a:pt x="625448" y="522250"/>
                </a:lnTo>
                <a:lnTo>
                  <a:pt x="0" y="5222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5" id="25"/>
          <p:cNvSpPr txBox="true"/>
          <p:nvPr/>
        </p:nvSpPr>
        <p:spPr>
          <a:xfrm rot="0">
            <a:off x="1159362" y="5375479"/>
            <a:ext cx="4700125" cy="373380"/>
          </a:xfrm>
          <a:prstGeom prst="rect">
            <a:avLst/>
          </a:prstGeom>
        </p:spPr>
        <p:txBody>
          <a:bodyPr anchor="t" rtlCol="false" tIns="0" lIns="0" bIns="0" rIns="0">
            <a:spAutoFit/>
          </a:bodyPr>
          <a:lstStyle/>
          <a:p>
            <a:pPr algn="ctr">
              <a:lnSpc>
                <a:spcPts val="2730"/>
              </a:lnSpc>
            </a:pPr>
            <a:r>
              <a:rPr lang="en-US" b="true" sz="2100" spc="210">
                <a:solidFill>
                  <a:srgbClr val="FFFFFF"/>
                </a:solidFill>
                <a:latin typeface="UID ในตำนาน"/>
                <a:ea typeface="UID ในตำนาน"/>
                <a:cs typeface="UID ในตำนาน"/>
                <a:sym typeface="UID ในตำนาน"/>
              </a:rPr>
              <a:t>WORD CL</a:t>
            </a:r>
            <a:r>
              <a:rPr lang="en-US" b="true" sz="2100" spc="210">
                <a:solidFill>
                  <a:srgbClr val="FFFFFF"/>
                </a:solidFill>
                <a:latin typeface="UID ในตำนาน"/>
                <a:ea typeface="UID ในตำนาน"/>
                <a:cs typeface="UID ในตำนาน"/>
                <a:sym typeface="UID ในตำนาน"/>
              </a:rPr>
              <a:t>OUD</a:t>
            </a:r>
          </a:p>
        </p:txBody>
      </p:sp>
      <p:sp>
        <p:nvSpPr>
          <p:cNvPr name="TextBox 26" id="26"/>
          <p:cNvSpPr txBox="true"/>
          <p:nvPr/>
        </p:nvSpPr>
        <p:spPr>
          <a:xfrm rot="0">
            <a:off x="6802705" y="5204029"/>
            <a:ext cx="4700125" cy="716280"/>
          </a:xfrm>
          <a:prstGeom prst="rect">
            <a:avLst/>
          </a:prstGeom>
        </p:spPr>
        <p:txBody>
          <a:bodyPr anchor="t" rtlCol="false" tIns="0" lIns="0" bIns="0" rIns="0">
            <a:spAutoFit/>
          </a:bodyPr>
          <a:lstStyle/>
          <a:p>
            <a:pPr algn="ctr">
              <a:lnSpc>
                <a:spcPts val="2730"/>
              </a:lnSpc>
            </a:pPr>
            <a:r>
              <a:rPr lang="en-US" b="true" sz="2100" spc="210">
                <a:solidFill>
                  <a:srgbClr val="FFFFFF"/>
                </a:solidFill>
                <a:latin typeface="UID ในตำนาน"/>
                <a:ea typeface="UID ในตำนาน"/>
                <a:cs typeface="UID ในตำนาน"/>
                <a:sym typeface="UID ในตำนาน"/>
              </a:rPr>
              <a:t>KEYWORD CO-OCC</a:t>
            </a:r>
            <a:r>
              <a:rPr lang="en-US" b="true" sz="2100" spc="210">
                <a:solidFill>
                  <a:srgbClr val="FFFFFF"/>
                </a:solidFill>
                <a:latin typeface="UID ในตำนาน"/>
                <a:ea typeface="UID ในตำนาน"/>
                <a:cs typeface="UID ในตำนาน"/>
                <a:sym typeface="UID ในตำนาน"/>
              </a:rPr>
              <a:t>URRENCE NETWORK (HTML)</a:t>
            </a:r>
          </a:p>
        </p:txBody>
      </p:sp>
      <p:sp>
        <p:nvSpPr>
          <p:cNvPr name="TextBox 27" id="27"/>
          <p:cNvSpPr txBox="true"/>
          <p:nvPr/>
        </p:nvSpPr>
        <p:spPr>
          <a:xfrm rot="0">
            <a:off x="1159362" y="6033605"/>
            <a:ext cx="4700125" cy="1683385"/>
          </a:xfrm>
          <a:prstGeom prst="rect">
            <a:avLst/>
          </a:prstGeom>
        </p:spPr>
        <p:txBody>
          <a:bodyPr anchor="t" rtlCol="false" tIns="0" lIns="0" bIns="0" rIns="0">
            <a:spAutoFit/>
          </a:bodyPr>
          <a:lstStyle/>
          <a:p>
            <a:pPr algn="ctr">
              <a:lnSpc>
                <a:spcPts val="2210"/>
              </a:lnSpc>
            </a:pPr>
            <a:r>
              <a:rPr lang="en-US" sz="1700" spc="170">
                <a:solidFill>
                  <a:srgbClr val="FFFFFF"/>
                </a:solidFill>
                <a:latin typeface="UID ในตำนาน"/>
                <a:ea typeface="UID ในตำนาน"/>
                <a:cs typeface="UID ในตำนาน"/>
                <a:sym typeface="UID ในตำนาน"/>
              </a:rPr>
              <a:t>เป็นกราฟิกแสดงผลความถี่ของคำศัพท์ในแต่ละสาขาวิชา โดยขนาดของตัวอักษรจะสะท้อนถึงจำนวนครั้งที่คำนั้นปรากฏ การสร้าง Word Cloud แยกตามสาขาช่วยให้เห็น คุณลักษณะเฉพาะ (Feature Importance)</a:t>
            </a:r>
            <a:r>
              <a:rPr lang="en-US" sz="1700" spc="170">
                <a:solidFill>
                  <a:srgbClr val="FFFFFF"/>
                </a:solidFill>
                <a:latin typeface="UID ในตำนาน"/>
                <a:ea typeface="UID ในตำนาน"/>
                <a:cs typeface="UID ในตำนาน"/>
                <a:sym typeface="UID ในตำนาน"/>
              </a:rPr>
              <a:t> ของแต่ละคลาสได้อย่างรวดเร็ว ว่าแต่ละวิชามีคีย์เวิร์ดใดเป็นแกนหลัก</a:t>
            </a:r>
          </a:p>
        </p:txBody>
      </p:sp>
      <p:sp>
        <p:nvSpPr>
          <p:cNvPr name="TextBox 28" id="28"/>
          <p:cNvSpPr txBox="true"/>
          <p:nvPr/>
        </p:nvSpPr>
        <p:spPr>
          <a:xfrm rot="0">
            <a:off x="6802705" y="6034609"/>
            <a:ext cx="4700125" cy="1959610"/>
          </a:xfrm>
          <a:prstGeom prst="rect">
            <a:avLst/>
          </a:prstGeom>
        </p:spPr>
        <p:txBody>
          <a:bodyPr anchor="t" rtlCol="false" tIns="0" lIns="0" bIns="0" rIns="0">
            <a:spAutoFit/>
          </a:bodyPr>
          <a:lstStyle/>
          <a:p>
            <a:pPr algn="l">
              <a:lnSpc>
                <a:spcPts val="2210"/>
              </a:lnSpc>
            </a:pPr>
            <a:r>
              <a:rPr lang="en-US" sz="1700" spc="170">
                <a:solidFill>
                  <a:srgbClr val="FFFFFF"/>
                </a:solidFill>
                <a:latin typeface="UID ในตำนาน"/>
                <a:ea typeface="UID ในตำนาน"/>
                <a:cs typeface="UID ในตำนาน"/>
                <a:sym typeface="UID ในตำนาน"/>
              </a:rPr>
              <a:t> กราฟเครือข่าย Interactive แสดงความสัมพันธ์ของการปรากฏคู่กันของคำสำคัญ</a:t>
            </a:r>
          </a:p>
          <a:p>
            <a:pPr algn="l">
              <a:lnSpc>
                <a:spcPts val="2210"/>
              </a:lnSpc>
            </a:pPr>
            <a:r>
              <a:rPr lang="en-US" sz="1700" spc="170">
                <a:solidFill>
                  <a:srgbClr val="FFFFFF"/>
                </a:solidFill>
                <a:latin typeface="UID ในตำนาน"/>
                <a:ea typeface="UID ในตำนาน"/>
                <a:cs typeface="UID ในตำนาน"/>
                <a:sym typeface="UID ในตำนาน"/>
              </a:rPr>
              <a:t> </a:t>
            </a:r>
          </a:p>
          <a:p>
            <a:pPr algn="l" marL="367037" indent="-183519" lvl="1">
              <a:lnSpc>
                <a:spcPts val="2210"/>
              </a:lnSpc>
              <a:buFont typeface="Arial"/>
              <a:buChar char="•"/>
            </a:pPr>
            <a:r>
              <a:rPr lang="en-US" sz="1700" spc="170">
                <a:solidFill>
                  <a:srgbClr val="FFFFFF"/>
                </a:solidFill>
                <a:latin typeface="UID ในตำนาน"/>
                <a:ea typeface="UID ในตำนาน"/>
                <a:cs typeface="UID ในตำนาน"/>
                <a:sym typeface="UID ในตำนาน"/>
              </a:rPr>
              <a:t>จุด (Nodes)</a:t>
            </a:r>
          </a:p>
          <a:p>
            <a:pPr algn="l" marL="367037" indent="-183519" lvl="1">
              <a:lnSpc>
                <a:spcPts val="2210"/>
              </a:lnSpc>
              <a:buFont typeface="Arial"/>
              <a:buChar char="•"/>
            </a:pPr>
            <a:r>
              <a:rPr lang="en-US" sz="1700" spc="170">
                <a:solidFill>
                  <a:srgbClr val="FFFFFF"/>
                </a:solidFill>
                <a:latin typeface="UID ในตำนาน"/>
                <a:ea typeface="UID ในตำนาน"/>
                <a:cs typeface="UID ในตำนาน"/>
                <a:sym typeface="UID ในตำนาน"/>
              </a:rPr>
              <a:t> เส้นเชื่อม (Edges)</a:t>
            </a:r>
          </a:p>
          <a:p>
            <a:pPr algn="l" marL="367037" indent="-183519" lvl="1">
              <a:lnSpc>
                <a:spcPts val="2210"/>
              </a:lnSpc>
              <a:buFont typeface="Arial"/>
              <a:buChar char="•"/>
            </a:pPr>
            <a:r>
              <a:rPr lang="en-US" sz="1700" spc="170">
                <a:solidFill>
                  <a:srgbClr val="FFFFFF"/>
                </a:solidFill>
                <a:latin typeface="UID ในตำนาน"/>
                <a:ea typeface="UID ในตำนาน"/>
                <a:cs typeface="UID ในตำนาน"/>
                <a:sym typeface="UID ในตำนาน"/>
              </a:rPr>
              <a:t> การจัดกลุ่ม (Community Detection)</a:t>
            </a:r>
          </a:p>
          <a:p>
            <a:pPr algn="l">
              <a:lnSpc>
                <a:spcPts val="2210"/>
              </a:lnSpc>
            </a:pPr>
          </a:p>
        </p:txBody>
      </p:sp>
      <p:sp>
        <p:nvSpPr>
          <p:cNvPr name="TextBox 29" id="29"/>
          <p:cNvSpPr txBox="true"/>
          <p:nvPr/>
        </p:nvSpPr>
        <p:spPr>
          <a:xfrm rot="0">
            <a:off x="12446049" y="5375479"/>
            <a:ext cx="4700125" cy="373380"/>
          </a:xfrm>
          <a:prstGeom prst="rect">
            <a:avLst/>
          </a:prstGeom>
        </p:spPr>
        <p:txBody>
          <a:bodyPr anchor="t" rtlCol="false" tIns="0" lIns="0" bIns="0" rIns="0">
            <a:spAutoFit/>
          </a:bodyPr>
          <a:lstStyle/>
          <a:p>
            <a:pPr algn="ctr">
              <a:lnSpc>
                <a:spcPts val="2730"/>
              </a:lnSpc>
            </a:pPr>
            <a:r>
              <a:rPr lang="en-US" b="true" sz="2100" spc="210">
                <a:solidFill>
                  <a:srgbClr val="FFFFFF"/>
                </a:solidFill>
                <a:latin typeface="UID ในตำนาน"/>
                <a:ea typeface="UID ในตำนาน"/>
                <a:cs typeface="UID ในตำนาน"/>
                <a:sym typeface="UID ในตำนาน"/>
              </a:rPr>
              <a:t>INTERACTIVE BAR</a:t>
            </a:r>
            <a:r>
              <a:rPr lang="en-US" b="true" sz="2100" spc="210">
                <a:solidFill>
                  <a:srgbClr val="FFFFFF"/>
                </a:solidFill>
                <a:latin typeface="UID ในตำนาน"/>
                <a:ea typeface="UID ในตำนาน"/>
                <a:cs typeface="UID ในตำนาน"/>
                <a:sym typeface="UID ในตำนาน"/>
              </a:rPr>
              <a:t> CHART</a:t>
            </a:r>
          </a:p>
        </p:txBody>
      </p:sp>
      <p:sp>
        <p:nvSpPr>
          <p:cNvPr name="TextBox 30" id="30"/>
          <p:cNvSpPr txBox="true"/>
          <p:nvPr/>
        </p:nvSpPr>
        <p:spPr>
          <a:xfrm rot="0">
            <a:off x="12446049" y="6033605"/>
            <a:ext cx="4700125" cy="854710"/>
          </a:xfrm>
          <a:prstGeom prst="rect">
            <a:avLst/>
          </a:prstGeom>
        </p:spPr>
        <p:txBody>
          <a:bodyPr anchor="t" rtlCol="false" tIns="0" lIns="0" bIns="0" rIns="0">
            <a:spAutoFit/>
          </a:bodyPr>
          <a:lstStyle/>
          <a:p>
            <a:pPr algn="ctr">
              <a:lnSpc>
                <a:spcPts val="2210"/>
              </a:lnSpc>
            </a:pPr>
            <a:r>
              <a:rPr lang="en-US" sz="1700" spc="170">
                <a:solidFill>
                  <a:srgbClr val="FFFFFF"/>
                </a:solidFill>
                <a:latin typeface="UID ในตำนาน"/>
                <a:ea typeface="UID ในตำนาน"/>
                <a:cs typeface="UID ในตำนาน"/>
                <a:sym typeface="UID ในตำนาน"/>
              </a:rPr>
              <a:t>กราฟแสดงสัดส่วนปริมาณบทความในแต่ละคลาสหลังจากการคลีนข้อมูล เพื่อประเมินความสมดุลของชุดข้อมูลก่อนนำไปเทรนโมเดล</a:t>
            </a:r>
          </a:p>
        </p:txBody>
      </p:sp>
      <p:sp>
        <p:nvSpPr>
          <p:cNvPr name="TextBox 31" id="31"/>
          <p:cNvSpPr txBox="true"/>
          <p:nvPr/>
        </p:nvSpPr>
        <p:spPr>
          <a:xfrm rot="0">
            <a:off x="803278" y="790575"/>
            <a:ext cx="16681444" cy="11525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UID ในตำนาน"/>
                <a:ea typeface="UID ในตำนาน"/>
                <a:cs typeface="UID ในตำนาน"/>
                <a:sym typeface="UID ในตำนาน"/>
              </a:rPr>
              <a:t> การทำ VISUALIZATION และความสัมพันธ์กับข้อมูล</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1664434" y="4416768"/>
            <a:ext cx="16230600" cy="6600444"/>
          </a:xfrm>
          <a:custGeom>
            <a:avLst/>
            <a:gdLst/>
            <a:ahLst/>
            <a:cxnLst/>
            <a:rect r="r" b="b" t="t" l="l"/>
            <a:pathLst>
              <a:path h="6600444" w="16230600">
                <a:moveTo>
                  <a:pt x="16230600" y="0"/>
                </a:moveTo>
                <a:lnTo>
                  <a:pt x="0" y="0"/>
                </a:lnTo>
                <a:lnTo>
                  <a:pt x="0" y="6600444"/>
                </a:lnTo>
                <a:lnTo>
                  <a:pt x="16230600" y="6600444"/>
                </a:lnTo>
                <a:lnTo>
                  <a:pt x="16230600" y="0"/>
                </a:lnTo>
                <a:close/>
              </a:path>
            </a:pathLst>
          </a:custGeom>
          <a:blipFill>
            <a:blip r:embed="rId2"/>
            <a:stretch>
              <a:fillRect l="0" t="0" r="0" b="0"/>
            </a:stretch>
          </a:blipFill>
        </p:spPr>
      </p:sp>
      <p:sp>
        <p:nvSpPr>
          <p:cNvPr name="AutoShape 3" id="3"/>
          <p:cNvSpPr/>
          <p:nvPr/>
        </p:nvSpPr>
        <p:spPr>
          <a:xfrm flipH="true" flipV="true">
            <a:off x="1727759" y="1943100"/>
            <a:ext cx="15626300" cy="56515"/>
          </a:xfrm>
          <a:prstGeom prst="line">
            <a:avLst/>
          </a:prstGeom>
          <a:ln cap="flat" w="38100">
            <a:gradFill>
              <a:gsLst>
                <a:gs pos="0">
                  <a:srgbClr val="B992C1">
                    <a:alpha val="0"/>
                  </a:srgbClr>
                </a:gs>
                <a:gs pos="50000">
                  <a:srgbClr val="0A2C92">
                    <a:alpha val="100000"/>
                  </a:srgbClr>
                </a:gs>
                <a:gs pos="100000">
                  <a:srgbClr val="FFFFFF">
                    <a:alpha val="100000"/>
                  </a:srgbClr>
                </a:gs>
              </a:gsLst>
              <a:path path="circle">
                <a:fillToRect l="0" r="100000" t="0" b="100000"/>
              </a:path>
              <a:tileRect r="0" l="-100000" b="0" t="-100000"/>
            </a:gradFill>
            <a:prstDash val="solid"/>
            <a:headEnd type="none" len="sm" w="sm"/>
            <a:tailEnd type="none" len="sm" w="sm"/>
          </a:ln>
        </p:spPr>
      </p:sp>
      <p:sp>
        <p:nvSpPr>
          <p:cNvPr name="Freeform 4" id="4"/>
          <p:cNvSpPr/>
          <p:nvPr/>
        </p:nvSpPr>
        <p:spPr>
          <a:xfrm flipH="false" flipV="false" rot="0">
            <a:off x="1990769" y="2573946"/>
            <a:ext cx="8620371" cy="6684354"/>
          </a:xfrm>
          <a:custGeom>
            <a:avLst/>
            <a:gdLst/>
            <a:ahLst/>
            <a:cxnLst/>
            <a:rect r="r" b="b" t="t" l="l"/>
            <a:pathLst>
              <a:path h="6684354" w="8620371">
                <a:moveTo>
                  <a:pt x="0" y="0"/>
                </a:moveTo>
                <a:lnTo>
                  <a:pt x="8620372" y="0"/>
                </a:lnTo>
                <a:lnTo>
                  <a:pt x="8620372" y="6684354"/>
                </a:lnTo>
                <a:lnTo>
                  <a:pt x="0" y="6684354"/>
                </a:lnTo>
                <a:lnTo>
                  <a:pt x="0" y="0"/>
                </a:lnTo>
                <a:close/>
              </a:path>
            </a:pathLst>
          </a:custGeom>
          <a:blipFill>
            <a:blip r:embed="rId3"/>
            <a:stretch>
              <a:fillRect l="0" t="0" r="0" b="0"/>
            </a:stretch>
          </a:blipFill>
        </p:spPr>
      </p:sp>
      <p:sp>
        <p:nvSpPr>
          <p:cNvPr name="Freeform 5" id="5"/>
          <p:cNvSpPr/>
          <p:nvPr/>
        </p:nvSpPr>
        <p:spPr>
          <a:xfrm flipH="false" flipV="false" rot="0">
            <a:off x="11192055" y="2573946"/>
            <a:ext cx="5105176" cy="6684354"/>
          </a:xfrm>
          <a:custGeom>
            <a:avLst/>
            <a:gdLst/>
            <a:ahLst/>
            <a:cxnLst/>
            <a:rect r="r" b="b" t="t" l="l"/>
            <a:pathLst>
              <a:path h="6684354" w="5105176">
                <a:moveTo>
                  <a:pt x="0" y="0"/>
                </a:moveTo>
                <a:lnTo>
                  <a:pt x="5105176" y="0"/>
                </a:lnTo>
                <a:lnTo>
                  <a:pt x="5105176" y="6684354"/>
                </a:lnTo>
                <a:lnTo>
                  <a:pt x="0" y="6684354"/>
                </a:lnTo>
                <a:lnTo>
                  <a:pt x="0" y="0"/>
                </a:lnTo>
                <a:close/>
              </a:path>
            </a:pathLst>
          </a:custGeom>
          <a:blipFill>
            <a:blip r:embed="rId4"/>
            <a:stretch>
              <a:fillRect l="0" t="0" r="0" b="0"/>
            </a:stretch>
          </a:blipFill>
        </p:spPr>
      </p:sp>
      <p:sp>
        <p:nvSpPr>
          <p:cNvPr name="TextBox 6" id="6"/>
          <p:cNvSpPr txBox="true"/>
          <p:nvPr/>
        </p:nvSpPr>
        <p:spPr>
          <a:xfrm rot="0">
            <a:off x="1397024" y="790575"/>
            <a:ext cx="15493952" cy="1152525"/>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UID ในตำนาน"/>
                <a:ea typeface="UID ในตำนาน"/>
                <a:cs typeface="UID ในตำนาน"/>
                <a:sym typeface="UID ในตำนาน"/>
              </a:rPr>
              <a:t> การทำ VISUALIZATION และความสัมพันธ์กับข้อมูล</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15164">
            <a:off x="-1000497" y="4725500"/>
            <a:ext cx="16230600" cy="7851553"/>
          </a:xfrm>
          <a:custGeom>
            <a:avLst/>
            <a:gdLst/>
            <a:ahLst/>
            <a:cxnLst/>
            <a:rect r="r" b="b" t="t" l="l"/>
            <a:pathLst>
              <a:path h="7851553" w="16230600">
                <a:moveTo>
                  <a:pt x="0" y="0"/>
                </a:moveTo>
                <a:lnTo>
                  <a:pt x="16230600" y="0"/>
                </a:lnTo>
                <a:lnTo>
                  <a:pt x="16230600" y="7851552"/>
                </a:lnTo>
                <a:lnTo>
                  <a:pt x="0" y="7851552"/>
                </a:lnTo>
                <a:lnTo>
                  <a:pt x="0" y="0"/>
                </a:lnTo>
                <a:close/>
              </a:path>
            </a:pathLst>
          </a:custGeom>
          <a:blipFill>
            <a:blip r:embed="rId2">
              <a:alphaModFix amt="19999"/>
            </a:blip>
            <a:stretch>
              <a:fillRect l="0" t="0" r="0" b="0"/>
            </a:stretch>
          </a:blipFill>
        </p:spPr>
      </p:sp>
      <p:grpSp>
        <p:nvGrpSpPr>
          <p:cNvPr name="Group 3" id="3"/>
          <p:cNvGrpSpPr/>
          <p:nvPr/>
        </p:nvGrpSpPr>
        <p:grpSpPr>
          <a:xfrm rot="0">
            <a:off x="542790" y="767968"/>
            <a:ext cx="17202420" cy="9188748"/>
            <a:chOff x="0" y="0"/>
            <a:chExt cx="4530678" cy="2420082"/>
          </a:xfrm>
        </p:grpSpPr>
        <p:sp>
          <p:nvSpPr>
            <p:cNvPr name="Freeform 4" id="4"/>
            <p:cNvSpPr/>
            <p:nvPr/>
          </p:nvSpPr>
          <p:spPr>
            <a:xfrm flipH="false" flipV="false" rot="0">
              <a:off x="0" y="0"/>
              <a:ext cx="4530678" cy="2420082"/>
            </a:xfrm>
            <a:custGeom>
              <a:avLst/>
              <a:gdLst/>
              <a:ahLst/>
              <a:cxnLst/>
              <a:rect r="r" b="b" t="t" l="l"/>
              <a:pathLst>
                <a:path h="2420082" w="4530678">
                  <a:moveTo>
                    <a:pt x="9001" y="0"/>
                  </a:moveTo>
                  <a:lnTo>
                    <a:pt x="4521677" y="0"/>
                  </a:lnTo>
                  <a:cubicBezTo>
                    <a:pt x="4524065" y="0"/>
                    <a:pt x="4526354" y="948"/>
                    <a:pt x="4528042" y="2636"/>
                  </a:cubicBezTo>
                  <a:cubicBezTo>
                    <a:pt x="4529730" y="4324"/>
                    <a:pt x="4530678" y="6614"/>
                    <a:pt x="4530678" y="9001"/>
                  </a:cubicBezTo>
                  <a:lnTo>
                    <a:pt x="4530678" y="2411081"/>
                  </a:lnTo>
                  <a:cubicBezTo>
                    <a:pt x="4530678" y="2413468"/>
                    <a:pt x="4529730" y="2415757"/>
                    <a:pt x="4528042" y="2417445"/>
                  </a:cubicBezTo>
                  <a:cubicBezTo>
                    <a:pt x="4526354" y="2419133"/>
                    <a:pt x="4524065" y="2420082"/>
                    <a:pt x="4521677" y="2420082"/>
                  </a:cubicBezTo>
                  <a:lnTo>
                    <a:pt x="9001" y="2420082"/>
                  </a:lnTo>
                  <a:cubicBezTo>
                    <a:pt x="4030" y="2420082"/>
                    <a:pt x="0" y="2416052"/>
                    <a:pt x="0" y="2411081"/>
                  </a:cubicBezTo>
                  <a:lnTo>
                    <a:pt x="0" y="9001"/>
                  </a:lnTo>
                  <a:cubicBezTo>
                    <a:pt x="0" y="6614"/>
                    <a:pt x="948" y="4324"/>
                    <a:pt x="2636" y="2636"/>
                  </a:cubicBezTo>
                  <a:cubicBezTo>
                    <a:pt x="4324" y="948"/>
                    <a:pt x="6614" y="0"/>
                    <a:pt x="9001" y="0"/>
                  </a:cubicBezTo>
                  <a:close/>
                </a:path>
              </a:pathLst>
            </a:custGeom>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5" id="5"/>
            <p:cNvSpPr txBox="true"/>
            <p:nvPr/>
          </p:nvSpPr>
          <p:spPr>
            <a:xfrm>
              <a:off x="0" y="-85725"/>
              <a:ext cx="4530678" cy="2505807"/>
            </a:xfrm>
            <a:prstGeom prst="rect">
              <a:avLst/>
            </a:prstGeom>
          </p:spPr>
          <p:txBody>
            <a:bodyPr anchor="ctr" rtlCol="false" tIns="50800" lIns="50800" bIns="50800" rIns="50800"/>
            <a:lstStyle/>
            <a:p>
              <a:pPr algn="ctr">
                <a:lnSpc>
                  <a:spcPts val="3359"/>
                </a:lnSpc>
              </a:pPr>
            </a:p>
          </p:txBody>
        </p:sp>
      </p:grpSp>
      <p:sp>
        <p:nvSpPr>
          <p:cNvPr name="TextBox 6" id="6"/>
          <p:cNvSpPr txBox="true"/>
          <p:nvPr/>
        </p:nvSpPr>
        <p:spPr>
          <a:xfrm rot="0">
            <a:off x="3562937" y="1138204"/>
            <a:ext cx="11147579" cy="1152479"/>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UID ในตำนาน"/>
                <a:ea typeface="UID ในตำนาน"/>
                <a:cs typeface="UID ในตำนาน"/>
                <a:sym typeface="UID ในตำนาน"/>
              </a:rPr>
              <a:t>ข้อมูลที่นำไปทำ FEATURE VECTOR </a:t>
            </a:r>
          </a:p>
        </p:txBody>
      </p:sp>
      <p:sp>
        <p:nvSpPr>
          <p:cNvPr name="Freeform 7" id="7"/>
          <p:cNvSpPr/>
          <p:nvPr/>
        </p:nvSpPr>
        <p:spPr>
          <a:xfrm flipH="true" flipV="false" rot="0">
            <a:off x="8969124" y="872324"/>
            <a:ext cx="12544949" cy="5101613"/>
          </a:xfrm>
          <a:custGeom>
            <a:avLst/>
            <a:gdLst/>
            <a:ahLst/>
            <a:cxnLst/>
            <a:rect r="r" b="b" t="t" l="l"/>
            <a:pathLst>
              <a:path h="5101613" w="12544949">
                <a:moveTo>
                  <a:pt x="12544949" y="0"/>
                </a:moveTo>
                <a:lnTo>
                  <a:pt x="0" y="0"/>
                </a:lnTo>
                <a:lnTo>
                  <a:pt x="0" y="5101612"/>
                </a:lnTo>
                <a:lnTo>
                  <a:pt x="12544949" y="5101612"/>
                </a:lnTo>
                <a:lnTo>
                  <a:pt x="12544949" y="0"/>
                </a:lnTo>
                <a:close/>
              </a:path>
            </a:pathLst>
          </a:custGeom>
          <a:blipFill>
            <a:blip r:embed="rId3"/>
            <a:stretch>
              <a:fillRect l="0" t="0" r="0" b="0"/>
            </a:stretch>
          </a:blipFill>
        </p:spPr>
      </p:sp>
      <p:sp>
        <p:nvSpPr>
          <p:cNvPr name="Freeform 8" id="8"/>
          <p:cNvSpPr/>
          <p:nvPr/>
        </p:nvSpPr>
        <p:spPr>
          <a:xfrm flipH="true" flipV="false" rot="2762244">
            <a:off x="-5837290" y="-1793330"/>
            <a:ext cx="12544949" cy="5101613"/>
          </a:xfrm>
          <a:custGeom>
            <a:avLst/>
            <a:gdLst/>
            <a:ahLst/>
            <a:cxnLst/>
            <a:rect r="r" b="b" t="t" l="l"/>
            <a:pathLst>
              <a:path h="5101613" w="12544949">
                <a:moveTo>
                  <a:pt x="12544949" y="0"/>
                </a:moveTo>
                <a:lnTo>
                  <a:pt x="0" y="0"/>
                </a:lnTo>
                <a:lnTo>
                  <a:pt x="0" y="5101612"/>
                </a:lnTo>
                <a:lnTo>
                  <a:pt x="12544949" y="5101612"/>
                </a:lnTo>
                <a:lnTo>
                  <a:pt x="12544949" y="0"/>
                </a:lnTo>
                <a:close/>
              </a:path>
            </a:pathLst>
          </a:custGeom>
          <a:blipFill>
            <a:blip r:embed="rId3"/>
            <a:stretch>
              <a:fillRect l="0" t="0" r="0" b="0"/>
            </a:stretch>
          </a:blipFill>
        </p:spPr>
      </p:sp>
      <p:grpSp>
        <p:nvGrpSpPr>
          <p:cNvPr name="Group 9" id="9"/>
          <p:cNvGrpSpPr/>
          <p:nvPr/>
        </p:nvGrpSpPr>
        <p:grpSpPr>
          <a:xfrm rot="0">
            <a:off x="542790" y="5723905"/>
            <a:ext cx="4838351" cy="4220751"/>
            <a:chOff x="0" y="0"/>
            <a:chExt cx="1925640" cy="1679838"/>
          </a:xfrm>
        </p:grpSpPr>
        <p:sp>
          <p:nvSpPr>
            <p:cNvPr name="Freeform 10" id="10"/>
            <p:cNvSpPr/>
            <p:nvPr/>
          </p:nvSpPr>
          <p:spPr>
            <a:xfrm flipH="false" flipV="false" rot="0">
              <a:off x="0" y="0"/>
              <a:ext cx="1925640" cy="1679838"/>
            </a:xfrm>
            <a:custGeom>
              <a:avLst/>
              <a:gdLst/>
              <a:ahLst/>
              <a:cxnLst/>
              <a:rect r="r" b="b" t="t" l="l"/>
              <a:pathLst>
                <a:path h="1679838" w="1925640">
                  <a:moveTo>
                    <a:pt x="32002" y="0"/>
                  </a:moveTo>
                  <a:lnTo>
                    <a:pt x="1893638" y="0"/>
                  </a:lnTo>
                  <a:cubicBezTo>
                    <a:pt x="1911312" y="0"/>
                    <a:pt x="1925640" y="14328"/>
                    <a:pt x="1925640" y="32002"/>
                  </a:cubicBezTo>
                  <a:lnTo>
                    <a:pt x="1925640" y="1647836"/>
                  </a:lnTo>
                  <a:cubicBezTo>
                    <a:pt x="1925640" y="1656323"/>
                    <a:pt x="1922268" y="1664463"/>
                    <a:pt x="1916267" y="1670465"/>
                  </a:cubicBezTo>
                  <a:cubicBezTo>
                    <a:pt x="1910265" y="1676466"/>
                    <a:pt x="1902125" y="1679838"/>
                    <a:pt x="1893638" y="1679838"/>
                  </a:cubicBezTo>
                  <a:lnTo>
                    <a:pt x="32002" y="1679838"/>
                  </a:lnTo>
                  <a:cubicBezTo>
                    <a:pt x="23515" y="1679838"/>
                    <a:pt x="15375" y="1676466"/>
                    <a:pt x="9373" y="1670465"/>
                  </a:cubicBezTo>
                  <a:cubicBezTo>
                    <a:pt x="3372" y="1664463"/>
                    <a:pt x="0" y="1656323"/>
                    <a:pt x="0" y="1647836"/>
                  </a:cubicBezTo>
                  <a:lnTo>
                    <a:pt x="0" y="32002"/>
                  </a:lnTo>
                  <a:cubicBezTo>
                    <a:pt x="0" y="23515"/>
                    <a:pt x="3372" y="15375"/>
                    <a:pt x="9373" y="9373"/>
                  </a:cubicBezTo>
                  <a:cubicBezTo>
                    <a:pt x="15375" y="3372"/>
                    <a:pt x="23515" y="0"/>
                    <a:pt x="32002" y="0"/>
                  </a:cubicBezTo>
                  <a:close/>
                </a:path>
              </a:pathLst>
            </a:custGeom>
            <a:gradFill rotWithShape="true">
              <a:gsLst>
                <a:gs pos="0">
                  <a:srgbClr val="B992C1">
                    <a:alpha val="50000"/>
                  </a:srgbClr>
                </a:gs>
                <a:gs pos="100000">
                  <a:srgbClr val="0A2C92">
                    <a:alpha val="5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11" id="11"/>
            <p:cNvSpPr txBox="true"/>
            <p:nvPr/>
          </p:nvSpPr>
          <p:spPr>
            <a:xfrm>
              <a:off x="0" y="-85725"/>
              <a:ext cx="1925640" cy="1765563"/>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5381141" y="4792699"/>
            <a:ext cx="7511171" cy="5164017"/>
            <a:chOff x="0" y="0"/>
            <a:chExt cx="2989409" cy="2055254"/>
          </a:xfrm>
        </p:grpSpPr>
        <p:sp>
          <p:nvSpPr>
            <p:cNvPr name="Freeform 13" id="13"/>
            <p:cNvSpPr/>
            <p:nvPr/>
          </p:nvSpPr>
          <p:spPr>
            <a:xfrm flipH="false" flipV="false" rot="0">
              <a:off x="0" y="0"/>
              <a:ext cx="2989409" cy="2055254"/>
            </a:xfrm>
            <a:custGeom>
              <a:avLst/>
              <a:gdLst/>
              <a:ahLst/>
              <a:cxnLst/>
              <a:rect r="r" b="b" t="t" l="l"/>
              <a:pathLst>
                <a:path h="2055254" w="2989409">
                  <a:moveTo>
                    <a:pt x="20614" y="0"/>
                  </a:moveTo>
                  <a:lnTo>
                    <a:pt x="2968795" y="0"/>
                  </a:lnTo>
                  <a:cubicBezTo>
                    <a:pt x="2974262" y="0"/>
                    <a:pt x="2979506" y="2172"/>
                    <a:pt x="2983372" y="6038"/>
                  </a:cubicBezTo>
                  <a:cubicBezTo>
                    <a:pt x="2987237" y="9904"/>
                    <a:pt x="2989409" y="15147"/>
                    <a:pt x="2989409" y="20614"/>
                  </a:cubicBezTo>
                  <a:lnTo>
                    <a:pt x="2989409" y="2034639"/>
                  </a:lnTo>
                  <a:cubicBezTo>
                    <a:pt x="2989409" y="2040106"/>
                    <a:pt x="2987237" y="2045350"/>
                    <a:pt x="2983372" y="2049216"/>
                  </a:cubicBezTo>
                  <a:cubicBezTo>
                    <a:pt x="2979506" y="2053082"/>
                    <a:pt x="2974262" y="2055254"/>
                    <a:pt x="2968795" y="2055254"/>
                  </a:cubicBezTo>
                  <a:lnTo>
                    <a:pt x="20614" y="2055254"/>
                  </a:lnTo>
                  <a:cubicBezTo>
                    <a:pt x="15147" y="2055254"/>
                    <a:pt x="9904" y="2053082"/>
                    <a:pt x="6038" y="2049216"/>
                  </a:cubicBezTo>
                  <a:cubicBezTo>
                    <a:pt x="2172" y="2045350"/>
                    <a:pt x="0" y="2040106"/>
                    <a:pt x="0" y="2034639"/>
                  </a:cubicBezTo>
                  <a:lnTo>
                    <a:pt x="0" y="20614"/>
                  </a:lnTo>
                  <a:cubicBezTo>
                    <a:pt x="0" y="15147"/>
                    <a:pt x="2172" y="9904"/>
                    <a:pt x="6038" y="6038"/>
                  </a:cubicBezTo>
                  <a:cubicBezTo>
                    <a:pt x="9904" y="2172"/>
                    <a:pt x="15147" y="0"/>
                    <a:pt x="20614" y="0"/>
                  </a:cubicBezTo>
                  <a:close/>
                </a:path>
              </a:pathLst>
            </a:custGeom>
            <a:gradFill rotWithShape="true">
              <a:gsLst>
                <a:gs pos="0">
                  <a:srgbClr val="B992C1">
                    <a:alpha val="50000"/>
                  </a:srgbClr>
                </a:gs>
                <a:gs pos="100000">
                  <a:srgbClr val="0A2C92">
                    <a:alpha val="5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14" id="14"/>
            <p:cNvSpPr txBox="true"/>
            <p:nvPr/>
          </p:nvSpPr>
          <p:spPr>
            <a:xfrm>
              <a:off x="0" y="-85725"/>
              <a:ext cx="2989409" cy="2140979"/>
            </a:xfrm>
            <a:prstGeom prst="rect">
              <a:avLst/>
            </a:prstGeom>
          </p:spPr>
          <p:txBody>
            <a:bodyPr anchor="ctr" rtlCol="false" tIns="50800" lIns="50800" bIns="50800" rIns="50800"/>
            <a:lstStyle/>
            <a:p>
              <a:pPr algn="ctr">
                <a:lnSpc>
                  <a:spcPts val="3359"/>
                </a:lnSpc>
              </a:pPr>
            </a:p>
          </p:txBody>
        </p:sp>
      </p:grpSp>
      <p:grpSp>
        <p:nvGrpSpPr>
          <p:cNvPr name="Group 15" id="15"/>
          <p:cNvGrpSpPr/>
          <p:nvPr/>
        </p:nvGrpSpPr>
        <p:grpSpPr>
          <a:xfrm rot="0">
            <a:off x="12892311" y="4062369"/>
            <a:ext cx="4852899" cy="5894346"/>
            <a:chOff x="0" y="0"/>
            <a:chExt cx="1931430" cy="2345921"/>
          </a:xfrm>
        </p:grpSpPr>
        <p:sp>
          <p:nvSpPr>
            <p:cNvPr name="Freeform 16" id="16"/>
            <p:cNvSpPr/>
            <p:nvPr/>
          </p:nvSpPr>
          <p:spPr>
            <a:xfrm flipH="false" flipV="false" rot="0">
              <a:off x="0" y="0"/>
              <a:ext cx="1931430" cy="2345921"/>
            </a:xfrm>
            <a:custGeom>
              <a:avLst/>
              <a:gdLst/>
              <a:ahLst/>
              <a:cxnLst/>
              <a:rect r="r" b="b" t="t" l="l"/>
              <a:pathLst>
                <a:path h="2345921" w="1931430">
                  <a:moveTo>
                    <a:pt x="31906" y="0"/>
                  </a:moveTo>
                  <a:lnTo>
                    <a:pt x="1899524" y="0"/>
                  </a:lnTo>
                  <a:cubicBezTo>
                    <a:pt x="1917145" y="0"/>
                    <a:pt x="1931430" y="14285"/>
                    <a:pt x="1931430" y="31906"/>
                  </a:cubicBezTo>
                  <a:lnTo>
                    <a:pt x="1931430" y="2314015"/>
                  </a:lnTo>
                  <a:cubicBezTo>
                    <a:pt x="1931430" y="2331636"/>
                    <a:pt x="1917145" y="2345921"/>
                    <a:pt x="1899524" y="2345921"/>
                  </a:cubicBezTo>
                  <a:lnTo>
                    <a:pt x="31906" y="2345921"/>
                  </a:lnTo>
                  <a:cubicBezTo>
                    <a:pt x="14285" y="2345921"/>
                    <a:pt x="0" y="2331636"/>
                    <a:pt x="0" y="2314015"/>
                  </a:cubicBezTo>
                  <a:lnTo>
                    <a:pt x="0" y="31906"/>
                  </a:lnTo>
                  <a:cubicBezTo>
                    <a:pt x="0" y="14285"/>
                    <a:pt x="14285" y="0"/>
                    <a:pt x="31906" y="0"/>
                  </a:cubicBezTo>
                  <a:close/>
                </a:path>
              </a:pathLst>
            </a:custGeom>
            <a:gradFill rotWithShape="true">
              <a:gsLst>
                <a:gs pos="0">
                  <a:srgbClr val="B992C1">
                    <a:alpha val="100000"/>
                  </a:srgbClr>
                </a:gs>
                <a:gs pos="100000">
                  <a:srgbClr val="0A2C92">
                    <a:alpha val="100000"/>
                  </a:srgbClr>
                </a:gs>
              </a:gsLst>
              <a:lin ang="0"/>
            </a:gradFill>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17" id="17"/>
            <p:cNvSpPr txBox="true"/>
            <p:nvPr/>
          </p:nvSpPr>
          <p:spPr>
            <a:xfrm>
              <a:off x="0" y="-85725"/>
              <a:ext cx="1931430" cy="2431646"/>
            </a:xfrm>
            <a:prstGeom prst="rect">
              <a:avLst/>
            </a:prstGeom>
          </p:spPr>
          <p:txBody>
            <a:bodyPr anchor="ctr" rtlCol="false" tIns="50800" lIns="50800" bIns="50800" rIns="50800"/>
            <a:lstStyle/>
            <a:p>
              <a:pPr algn="ctr">
                <a:lnSpc>
                  <a:spcPts val="3359"/>
                </a:lnSpc>
              </a:pPr>
            </a:p>
          </p:txBody>
        </p:sp>
      </p:grpSp>
      <p:sp>
        <p:nvSpPr>
          <p:cNvPr name="TextBox 18" id="18"/>
          <p:cNvSpPr txBox="true"/>
          <p:nvPr/>
        </p:nvSpPr>
        <p:spPr>
          <a:xfrm rot="0">
            <a:off x="1085237" y="5907261"/>
            <a:ext cx="3753457" cy="854167"/>
          </a:xfrm>
          <a:prstGeom prst="rect">
            <a:avLst/>
          </a:prstGeom>
        </p:spPr>
        <p:txBody>
          <a:bodyPr anchor="t" rtlCol="false" tIns="0" lIns="0" bIns="0" rIns="0">
            <a:spAutoFit/>
          </a:bodyPr>
          <a:lstStyle/>
          <a:p>
            <a:pPr algn="ctr">
              <a:lnSpc>
                <a:spcPts val="3249"/>
              </a:lnSpc>
            </a:pPr>
            <a:r>
              <a:rPr lang="en-US" b="true" sz="2499" spc="249">
                <a:solidFill>
                  <a:srgbClr val="FFFFFF"/>
                </a:solidFill>
                <a:latin typeface="UID ในตำนาน"/>
                <a:ea typeface="UID ในตำนาน"/>
                <a:cs typeface="UID ในตำนาน"/>
                <a:sym typeface="UID ในตำนาน"/>
              </a:rPr>
              <a:t> การควบรวมข้อความ (TEXT CONCATENATION)</a:t>
            </a:r>
          </a:p>
        </p:txBody>
      </p:sp>
      <p:sp>
        <p:nvSpPr>
          <p:cNvPr name="TextBox 19" id="19"/>
          <p:cNvSpPr txBox="true"/>
          <p:nvPr/>
        </p:nvSpPr>
        <p:spPr>
          <a:xfrm rot="0">
            <a:off x="731271" y="7138142"/>
            <a:ext cx="4461388" cy="2256927"/>
          </a:xfrm>
          <a:prstGeom prst="rect">
            <a:avLst/>
          </a:prstGeom>
        </p:spPr>
        <p:txBody>
          <a:bodyPr anchor="t" rtlCol="false" tIns="0" lIns="0" bIns="0" rIns="0">
            <a:spAutoFit/>
          </a:bodyPr>
          <a:lstStyle/>
          <a:p>
            <a:pPr algn="ctr">
              <a:lnSpc>
                <a:spcPts val="2990"/>
              </a:lnSpc>
            </a:pPr>
            <a:r>
              <a:rPr lang="en-US" sz="2300" spc="230">
                <a:solidFill>
                  <a:srgbClr val="FFFFFF"/>
                </a:solidFill>
                <a:latin typeface="UID ในตำนาน"/>
                <a:ea typeface="UID ในตำนาน"/>
                <a:cs typeface="UID ในตำนาน"/>
                <a:sym typeface="UID ในตำนาน"/>
              </a:rPr>
              <a:t>ข้อมูลที่คลีนแล้วจาก 'Title' และ 'Abstract' ถูกนำมารวมเป็นฟีเจอร์ใหม่ชื่อ 'Combined_Text' จากนั้นจึงนำคำจาก 'Author Keywords' และ 'Index Keywords' มาต่อท้ายเพื่อสร้างเป็นคอลัมน์ 'Final_T</a:t>
            </a:r>
            <a:r>
              <a:rPr lang="en-US" sz="2300" spc="230">
                <a:solidFill>
                  <a:srgbClr val="FFFFFF"/>
                </a:solidFill>
                <a:latin typeface="UID ในตำนาน"/>
                <a:ea typeface="UID ในตำนาน"/>
                <a:cs typeface="UID ในตำนาน"/>
                <a:sym typeface="UID ในตำนาน"/>
              </a:rPr>
              <a:t>ext' </a:t>
            </a:r>
          </a:p>
        </p:txBody>
      </p:sp>
      <p:sp>
        <p:nvSpPr>
          <p:cNvPr name="TextBox 20" id="20"/>
          <p:cNvSpPr txBox="true"/>
          <p:nvPr/>
        </p:nvSpPr>
        <p:spPr>
          <a:xfrm rot="0">
            <a:off x="7114803" y="4958531"/>
            <a:ext cx="3753457" cy="854167"/>
          </a:xfrm>
          <a:prstGeom prst="rect">
            <a:avLst/>
          </a:prstGeom>
        </p:spPr>
        <p:txBody>
          <a:bodyPr anchor="t" rtlCol="false" tIns="0" lIns="0" bIns="0" rIns="0">
            <a:spAutoFit/>
          </a:bodyPr>
          <a:lstStyle/>
          <a:p>
            <a:pPr algn="ctr">
              <a:lnSpc>
                <a:spcPts val="3249"/>
              </a:lnSpc>
            </a:pPr>
            <a:r>
              <a:rPr lang="en-US" b="true" sz="2499" spc="249">
                <a:solidFill>
                  <a:srgbClr val="FFFFFF"/>
                </a:solidFill>
                <a:latin typeface="UID ในตำนาน"/>
                <a:ea typeface="UID ในตำนาน"/>
                <a:cs typeface="UID ในตำนาน"/>
                <a:sym typeface="UID ในตำนาน"/>
              </a:rPr>
              <a:t> การสร้าง FEATURE VECTOR ด้วย TF-IDF</a:t>
            </a:r>
          </a:p>
        </p:txBody>
      </p:sp>
      <p:sp>
        <p:nvSpPr>
          <p:cNvPr name="TextBox 21" id="21"/>
          <p:cNvSpPr txBox="true"/>
          <p:nvPr/>
        </p:nvSpPr>
        <p:spPr>
          <a:xfrm rot="0">
            <a:off x="5825192" y="5916786"/>
            <a:ext cx="6623069" cy="3742919"/>
          </a:xfrm>
          <a:prstGeom prst="rect">
            <a:avLst/>
          </a:prstGeom>
        </p:spPr>
        <p:txBody>
          <a:bodyPr anchor="t" rtlCol="false" tIns="0" lIns="0" bIns="0" rIns="0">
            <a:spAutoFit/>
          </a:bodyPr>
          <a:lstStyle/>
          <a:p>
            <a:pPr algn="ctr">
              <a:lnSpc>
                <a:spcPts val="2990"/>
              </a:lnSpc>
            </a:pPr>
            <a:r>
              <a:rPr lang="en-US" sz="2300" spc="230">
                <a:solidFill>
                  <a:srgbClr val="FFFFFF"/>
                </a:solidFill>
                <a:latin typeface="UID ในตำนาน"/>
                <a:ea typeface="UID ในตำนาน"/>
                <a:cs typeface="UID ในตำนาน"/>
                <a:sym typeface="UID ในตำนาน"/>
              </a:rPr>
              <a:t> ข้อมูลใน 'Final_Text' ถูกนำมาแปลงเป็นเมทริกซ์ตัวเลขด้วยเทคนิค TfidfVectorizer ซึ่งจะประเมินน้ำหนักความสำคัญของคำศัพท์จากการปรากฏในบทความเมื่อเทียบกับความถี่ในชุดข้อมูลทั้งหมด </a:t>
            </a:r>
          </a:p>
          <a:p>
            <a:pPr algn="ctr">
              <a:lnSpc>
                <a:spcPts val="2990"/>
              </a:lnSpc>
            </a:pPr>
            <a:r>
              <a:rPr lang="en-US" sz="2300" spc="230">
                <a:solidFill>
                  <a:srgbClr val="FFFFFF"/>
                </a:solidFill>
                <a:latin typeface="UID ในตำนาน"/>
                <a:ea typeface="UID ในตำนาน"/>
                <a:cs typeface="UID ในตำนาน"/>
                <a:sym typeface="UID ในตำนาน"/>
              </a:rPr>
              <a:t>การเข้ารหัสคำตอบ (Label Encoding): ข้อมูลคอลัมน์ 'Subject' หรือ 10 สาขาวิชาเป้าหมาย ถูกแปลงให้อยู่ในรูปแบบหมวดหมู่ตัวเลขด้วย LabelEncoder ขั้นตอนนี้จำเป็นมากเพราะอัลกอริทึม Machin</a:t>
            </a:r>
            <a:r>
              <a:rPr lang="en-US" sz="2300" spc="230">
                <a:solidFill>
                  <a:srgbClr val="FFFFFF"/>
                </a:solidFill>
                <a:latin typeface="UID ในตำนาน"/>
                <a:ea typeface="UID ในตำนาน"/>
                <a:cs typeface="UID ในตำนาน"/>
                <a:sym typeface="UID ในตำนาน"/>
              </a:rPr>
              <a:t>e Learning ต้องอาศัยข้อมูลในรูปแบบตัวเลขเพื่อเรียนรู้รูปแบบ</a:t>
            </a:r>
          </a:p>
        </p:txBody>
      </p:sp>
      <p:sp>
        <p:nvSpPr>
          <p:cNvPr name="TextBox 22" id="22"/>
          <p:cNvSpPr txBox="true"/>
          <p:nvPr/>
        </p:nvSpPr>
        <p:spPr>
          <a:xfrm rot="0">
            <a:off x="13364870" y="4332278"/>
            <a:ext cx="3753457" cy="854167"/>
          </a:xfrm>
          <a:prstGeom prst="rect">
            <a:avLst/>
          </a:prstGeom>
        </p:spPr>
        <p:txBody>
          <a:bodyPr anchor="t" rtlCol="false" tIns="0" lIns="0" bIns="0" rIns="0">
            <a:spAutoFit/>
          </a:bodyPr>
          <a:lstStyle/>
          <a:p>
            <a:pPr algn="ctr">
              <a:lnSpc>
                <a:spcPts val="3249"/>
              </a:lnSpc>
            </a:pPr>
            <a:r>
              <a:rPr lang="en-US" b="true" sz="2499" spc="249">
                <a:solidFill>
                  <a:srgbClr val="FFFFFF"/>
                </a:solidFill>
                <a:latin typeface="UID ในตำนาน"/>
                <a:ea typeface="UID ในตำนาน"/>
                <a:cs typeface="UID ในตำนาน"/>
                <a:sym typeface="UID ในตำนาน"/>
              </a:rPr>
              <a:t>การเข้ารหัสเป้าหมาย (LABEL ENCODING)</a:t>
            </a:r>
          </a:p>
        </p:txBody>
      </p:sp>
      <p:sp>
        <p:nvSpPr>
          <p:cNvPr name="TextBox 23" id="23"/>
          <p:cNvSpPr txBox="true"/>
          <p:nvPr/>
        </p:nvSpPr>
        <p:spPr>
          <a:xfrm rot="0">
            <a:off x="13185694" y="5666755"/>
            <a:ext cx="4073606" cy="2628425"/>
          </a:xfrm>
          <a:prstGeom prst="rect">
            <a:avLst/>
          </a:prstGeom>
        </p:spPr>
        <p:txBody>
          <a:bodyPr anchor="t" rtlCol="false" tIns="0" lIns="0" bIns="0" rIns="0">
            <a:spAutoFit/>
          </a:bodyPr>
          <a:lstStyle/>
          <a:p>
            <a:pPr algn="ctr">
              <a:lnSpc>
                <a:spcPts val="2990"/>
              </a:lnSpc>
            </a:pPr>
            <a:r>
              <a:rPr lang="en-US" sz="2300" spc="230">
                <a:solidFill>
                  <a:srgbClr val="FFFFFF"/>
                </a:solidFill>
                <a:latin typeface="UID ในตำนาน"/>
                <a:ea typeface="UID ในตำนาน"/>
                <a:cs typeface="UID ในตำนาน"/>
                <a:sym typeface="UID ในตำนาน"/>
              </a:rPr>
              <a:t>แปลงชื่อสาขาวิชาทั้ง 10 หมวดให้เป็นคลาสตัวเลข 0-9 ทำให้ชุดข้อมูลอยู่ในรูปแบบ Array ทางคณิตศาสตร์ที่พร้อมสำหรับกระบวนการ Machin</a:t>
            </a:r>
            <a:r>
              <a:rPr lang="en-US" sz="2300" spc="230">
                <a:solidFill>
                  <a:srgbClr val="FFFFFF"/>
                </a:solidFill>
                <a:latin typeface="UID ในตำนาน"/>
                <a:ea typeface="UID ในตำนาน"/>
                <a:cs typeface="UID ในตำนาน"/>
                <a:sym typeface="UID ในตำนาน"/>
              </a:rPr>
              <a:t>e Learning อย่างสมบูรณ์ </a:t>
            </a:r>
          </a:p>
          <a:p>
            <a:pPr algn="ctr">
              <a:lnSpc>
                <a:spcPts val="299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915164">
            <a:off x="-1000497" y="4725500"/>
            <a:ext cx="16230600" cy="7851553"/>
          </a:xfrm>
          <a:custGeom>
            <a:avLst/>
            <a:gdLst/>
            <a:ahLst/>
            <a:cxnLst/>
            <a:rect r="r" b="b" t="t" l="l"/>
            <a:pathLst>
              <a:path h="7851553" w="16230600">
                <a:moveTo>
                  <a:pt x="0" y="0"/>
                </a:moveTo>
                <a:lnTo>
                  <a:pt x="16230600" y="0"/>
                </a:lnTo>
                <a:lnTo>
                  <a:pt x="16230600" y="7851552"/>
                </a:lnTo>
                <a:lnTo>
                  <a:pt x="0" y="7851552"/>
                </a:lnTo>
                <a:lnTo>
                  <a:pt x="0" y="0"/>
                </a:lnTo>
                <a:close/>
              </a:path>
            </a:pathLst>
          </a:custGeom>
          <a:blipFill>
            <a:blip r:embed="rId2">
              <a:alphaModFix amt="19999"/>
            </a:blip>
            <a:stretch>
              <a:fillRect l="0" t="0" r="0" b="0"/>
            </a:stretch>
          </a:blipFill>
        </p:spPr>
      </p:sp>
      <p:grpSp>
        <p:nvGrpSpPr>
          <p:cNvPr name="Group 3" id="3"/>
          <p:cNvGrpSpPr/>
          <p:nvPr/>
        </p:nvGrpSpPr>
        <p:grpSpPr>
          <a:xfrm rot="0">
            <a:off x="542790" y="1668679"/>
            <a:ext cx="17202420" cy="8288037"/>
            <a:chOff x="0" y="0"/>
            <a:chExt cx="4530678" cy="2182857"/>
          </a:xfrm>
        </p:grpSpPr>
        <p:sp>
          <p:nvSpPr>
            <p:cNvPr name="Freeform 4" id="4"/>
            <p:cNvSpPr/>
            <p:nvPr/>
          </p:nvSpPr>
          <p:spPr>
            <a:xfrm flipH="false" flipV="false" rot="0">
              <a:off x="0" y="0"/>
              <a:ext cx="4530678" cy="2182857"/>
            </a:xfrm>
            <a:custGeom>
              <a:avLst/>
              <a:gdLst/>
              <a:ahLst/>
              <a:cxnLst/>
              <a:rect r="r" b="b" t="t" l="l"/>
              <a:pathLst>
                <a:path h="2182857" w="4530678">
                  <a:moveTo>
                    <a:pt x="9001" y="0"/>
                  </a:moveTo>
                  <a:lnTo>
                    <a:pt x="4521677" y="0"/>
                  </a:lnTo>
                  <a:cubicBezTo>
                    <a:pt x="4524065" y="0"/>
                    <a:pt x="4526354" y="948"/>
                    <a:pt x="4528042" y="2636"/>
                  </a:cubicBezTo>
                  <a:cubicBezTo>
                    <a:pt x="4529730" y="4324"/>
                    <a:pt x="4530678" y="6614"/>
                    <a:pt x="4530678" y="9001"/>
                  </a:cubicBezTo>
                  <a:lnTo>
                    <a:pt x="4530678" y="2173856"/>
                  </a:lnTo>
                  <a:cubicBezTo>
                    <a:pt x="4530678" y="2176244"/>
                    <a:pt x="4529730" y="2178533"/>
                    <a:pt x="4528042" y="2180221"/>
                  </a:cubicBezTo>
                  <a:cubicBezTo>
                    <a:pt x="4526354" y="2181909"/>
                    <a:pt x="4524065" y="2182857"/>
                    <a:pt x="4521677" y="2182857"/>
                  </a:cubicBezTo>
                  <a:lnTo>
                    <a:pt x="9001" y="2182857"/>
                  </a:lnTo>
                  <a:cubicBezTo>
                    <a:pt x="6614" y="2182857"/>
                    <a:pt x="4324" y="2181909"/>
                    <a:pt x="2636" y="2180221"/>
                  </a:cubicBezTo>
                  <a:cubicBezTo>
                    <a:pt x="948" y="2178533"/>
                    <a:pt x="0" y="2176244"/>
                    <a:pt x="0" y="2173856"/>
                  </a:cubicBezTo>
                  <a:lnTo>
                    <a:pt x="0" y="9001"/>
                  </a:lnTo>
                  <a:cubicBezTo>
                    <a:pt x="0" y="6614"/>
                    <a:pt x="948" y="4324"/>
                    <a:pt x="2636" y="2636"/>
                  </a:cubicBezTo>
                  <a:cubicBezTo>
                    <a:pt x="4324" y="948"/>
                    <a:pt x="6614" y="0"/>
                    <a:pt x="9001" y="0"/>
                  </a:cubicBezTo>
                  <a:close/>
                </a:path>
              </a:pathLst>
            </a:custGeom>
            <a:ln w="47625" cap="sq">
              <a:gradFill>
                <a:gsLst>
                  <a:gs pos="0">
                    <a:srgbClr val="B992C1">
                      <a:alpha val="0"/>
                    </a:srgbClr>
                  </a:gs>
                  <a:gs pos="50000">
                    <a:srgbClr val="0A2C92">
                      <a:alpha val="100000"/>
                    </a:srgbClr>
                  </a:gs>
                  <a:gs pos="100000">
                    <a:srgbClr val="FFFFFF">
                      <a:alpha val="100000"/>
                    </a:srgbClr>
                  </a:gs>
                </a:gsLst>
                <a:path path="circle">
                  <a:fillToRect l="50000" r="50000" t="50000" b="50000"/>
                </a:path>
              </a:gradFill>
              <a:prstDash val="solid"/>
              <a:miter/>
            </a:ln>
          </p:spPr>
        </p:sp>
        <p:sp>
          <p:nvSpPr>
            <p:cNvPr name="TextBox 5" id="5"/>
            <p:cNvSpPr txBox="true"/>
            <p:nvPr/>
          </p:nvSpPr>
          <p:spPr>
            <a:xfrm>
              <a:off x="0" y="-85725"/>
              <a:ext cx="4530678" cy="2268582"/>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false" rot="0">
            <a:off x="2599944" y="2056978"/>
            <a:ext cx="13088113" cy="7511439"/>
          </a:xfrm>
          <a:custGeom>
            <a:avLst/>
            <a:gdLst/>
            <a:ahLst/>
            <a:cxnLst/>
            <a:rect r="r" b="b" t="t" l="l"/>
            <a:pathLst>
              <a:path h="7511439" w="13088113">
                <a:moveTo>
                  <a:pt x="0" y="0"/>
                </a:moveTo>
                <a:lnTo>
                  <a:pt x="13088112" y="0"/>
                </a:lnTo>
                <a:lnTo>
                  <a:pt x="13088112" y="7511439"/>
                </a:lnTo>
                <a:lnTo>
                  <a:pt x="0" y="7511439"/>
                </a:lnTo>
                <a:lnTo>
                  <a:pt x="0" y="0"/>
                </a:lnTo>
                <a:close/>
              </a:path>
            </a:pathLst>
          </a:custGeom>
          <a:blipFill>
            <a:blip r:embed="rId3"/>
            <a:stretch>
              <a:fillRect l="0" t="0" r="0" b="0"/>
            </a:stretch>
          </a:blipFill>
        </p:spPr>
      </p:sp>
      <p:sp>
        <p:nvSpPr>
          <p:cNvPr name="TextBox 7" id="7"/>
          <p:cNvSpPr txBox="true"/>
          <p:nvPr/>
        </p:nvSpPr>
        <p:spPr>
          <a:xfrm rot="0">
            <a:off x="3570211" y="179268"/>
            <a:ext cx="11147579" cy="1152479"/>
          </a:xfrm>
          <a:prstGeom prst="rect">
            <a:avLst/>
          </a:prstGeom>
        </p:spPr>
        <p:txBody>
          <a:bodyPr anchor="t" rtlCol="false" tIns="0" lIns="0" bIns="0" rIns="0">
            <a:spAutoFit/>
          </a:bodyPr>
          <a:lstStyle/>
          <a:p>
            <a:pPr algn="ctr">
              <a:lnSpc>
                <a:spcPts val="8400"/>
              </a:lnSpc>
              <a:spcBef>
                <a:spcPct val="0"/>
              </a:spcBef>
            </a:pPr>
            <a:r>
              <a:rPr lang="en-US" sz="6000">
                <a:solidFill>
                  <a:srgbClr val="FFFFFF"/>
                </a:solidFill>
                <a:latin typeface="UID ในตำนาน"/>
                <a:ea typeface="UID ในตำนาน"/>
                <a:cs typeface="UID ในตำนาน"/>
                <a:sym typeface="UID ในตำนาน"/>
              </a:rPr>
              <a:t>ข้อมูลที่นำไปทำ FEATURE VECTOR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955100" y="7740498"/>
            <a:ext cx="6888340" cy="3332235"/>
          </a:xfrm>
          <a:custGeom>
            <a:avLst/>
            <a:gdLst/>
            <a:ahLst/>
            <a:cxnLst/>
            <a:rect r="r" b="b" t="t" l="l"/>
            <a:pathLst>
              <a:path h="3332235" w="6888340">
                <a:moveTo>
                  <a:pt x="6888340" y="0"/>
                </a:moveTo>
                <a:lnTo>
                  <a:pt x="0" y="0"/>
                </a:lnTo>
                <a:lnTo>
                  <a:pt x="0" y="3332235"/>
                </a:lnTo>
                <a:lnTo>
                  <a:pt x="6888340" y="3332235"/>
                </a:lnTo>
                <a:lnTo>
                  <a:pt x="6888340" y="0"/>
                </a:lnTo>
                <a:close/>
              </a:path>
            </a:pathLst>
          </a:custGeom>
          <a:blipFill>
            <a:blip r:embed="rId2">
              <a:alphaModFix amt="55000"/>
            </a:blip>
            <a:stretch>
              <a:fillRect l="0" t="0" r="0" b="0"/>
            </a:stretch>
          </a:blipFill>
        </p:spPr>
      </p:sp>
      <p:sp>
        <p:nvSpPr>
          <p:cNvPr name="Freeform 3" id="3"/>
          <p:cNvSpPr/>
          <p:nvPr/>
        </p:nvSpPr>
        <p:spPr>
          <a:xfrm flipH="true" flipV="false" rot="0">
            <a:off x="14121445" y="5891933"/>
            <a:ext cx="6888340" cy="3332235"/>
          </a:xfrm>
          <a:custGeom>
            <a:avLst/>
            <a:gdLst/>
            <a:ahLst/>
            <a:cxnLst/>
            <a:rect r="r" b="b" t="t" l="l"/>
            <a:pathLst>
              <a:path h="3332235" w="6888340">
                <a:moveTo>
                  <a:pt x="6888341" y="0"/>
                </a:moveTo>
                <a:lnTo>
                  <a:pt x="0" y="0"/>
                </a:lnTo>
                <a:lnTo>
                  <a:pt x="0" y="3332235"/>
                </a:lnTo>
                <a:lnTo>
                  <a:pt x="6888341" y="3332235"/>
                </a:lnTo>
                <a:lnTo>
                  <a:pt x="6888341" y="0"/>
                </a:lnTo>
                <a:close/>
              </a:path>
            </a:pathLst>
          </a:custGeom>
          <a:blipFill>
            <a:blip r:embed="rId2">
              <a:alphaModFix amt="55000"/>
            </a:blip>
            <a:stretch>
              <a:fillRect l="0" t="0" r="0" b="0"/>
            </a:stretch>
          </a:blipFill>
        </p:spPr>
      </p:sp>
      <p:sp>
        <p:nvSpPr>
          <p:cNvPr name="Freeform 4" id="4"/>
          <p:cNvSpPr/>
          <p:nvPr/>
        </p:nvSpPr>
        <p:spPr>
          <a:xfrm flipH="false" flipV="false" rot="0">
            <a:off x="1028700" y="8765711"/>
            <a:ext cx="385509" cy="385509"/>
          </a:xfrm>
          <a:custGeom>
            <a:avLst/>
            <a:gdLst/>
            <a:ahLst/>
            <a:cxnLst/>
            <a:rect r="r" b="b" t="t" l="l"/>
            <a:pathLst>
              <a:path h="385509" w="385509">
                <a:moveTo>
                  <a:pt x="0" y="0"/>
                </a:moveTo>
                <a:lnTo>
                  <a:pt x="385509" y="0"/>
                </a:lnTo>
                <a:lnTo>
                  <a:pt x="385509" y="385509"/>
                </a:lnTo>
                <a:lnTo>
                  <a:pt x="0" y="3855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204927" y="-4956727"/>
            <a:ext cx="20492927" cy="9913453"/>
          </a:xfrm>
          <a:custGeom>
            <a:avLst/>
            <a:gdLst/>
            <a:ahLst/>
            <a:cxnLst/>
            <a:rect r="r" b="b" t="t" l="l"/>
            <a:pathLst>
              <a:path h="9913453" w="20492927">
                <a:moveTo>
                  <a:pt x="0" y="0"/>
                </a:moveTo>
                <a:lnTo>
                  <a:pt x="20492927" y="0"/>
                </a:lnTo>
                <a:lnTo>
                  <a:pt x="20492927" y="9913454"/>
                </a:lnTo>
                <a:lnTo>
                  <a:pt x="0" y="9913454"/>
                </a:lnTo>
                <a:lnTo>
                  <a:pt x="0" y="0"/>
                </a:lnTo>
                <a:close/>
              </a:path>
            </a:pathLst>
          </a:custGeom>
          <a:blipFill>
            <a:blip r:embed="rId5">
              <a:alphaModFix amt="55000"/>
            </a:blip>
            <a:stretch>
              <a:fillRect l="0" t="0" r="0" b="0"/>
            </a:stretch>
          </a:blipFill>
        </p:spPr>
      </p:sp>
      <p:sp>
        <p:nvSpPr>
          <p:cNvPr name="TextBox 6" id="6"/>
          <p:cNvSpPr txBox="true"/>
          <p:nvPr/>
        </p:nvSpPr>
        <p:spPr>
          <a:xfrm rot="0">
            <a:off x="4414205" y="3995825"/>
            <a:ext cx="9459591" cy="1443980"/>
          </a:xfrm>
          <a:prstGeom prst="rect">
            <a:avLst/>
          </a:prstGeom>
        </p:spPr>
        <p:txBody>
          <a:bodyPr anchor="t" rtlCol="false" tIns="0" lIns="0" bIns="0" rIns="0">
            <a:spAutoFit/>
          </a:bodyPr>
          <a:lstStyle/>
          <a:p>
            <a:pPr algn="ctr">
              <a:lnSpc>
                <a:spcPts val="11760"/>
              </a:lnSpc>
              <a:spcBef>
                <a:spcPct val="0"/>
              </a:spcBef>
            </a:pPr>
            <a:r>
              <a:rPr lang="en-US" sz="8400">
                <a:solidFill>
                  <a:srgbClr val="FFFFFF"/>
                </a:solidFill>
                <a:latin typeface="Archivo Black"/>
                <a:ea typeface="Archivo Black"/>
                <a:cs typeface="Archivo Black"/>
                <a:sym typeface="Archivo Black"/>
              </a:rPr>
              <a:t>TH</a:t>
            </a:r>
            <a:r>
              <a:rPr lang="en-US" sz="8400">
                <a:solidFill>
                  <a:srgbClr val="FFFFFF"/>
                </a:solidFill>
                <a:latin typeface="Archivo Black"/>
                <a:ea typeface="Archivo Black"/>
                <a:cs typeface="Archivo Black"/>
                <a:sym typeface="Archivo Black"/>
              </a:rPr>
              <a:t>ANK YOU </a:t>
            </a:r>
          </a:p>
        </p:txBody>
      </p:sp>
      <p:sp>
        <p:nvSpPr>
          <p:cNvPr name="TextBox 7" id="7"/>
          <p:cNvSpPr txBox="true"/>
          <p:nvPr/>
        </p:nvSpPr>
        <p:spPr>
          <a:xfrm rot="0">
            <a:off x="4414205" y="5591579"/>
            <a:ext cx="9459591" cy="495935"/>
          </a:xfrm>
          <a:prstGeom prst="rect">
            <a:avLst/>
          </a:prstGeom>
        </p:spPr>
        <p:txBody>
          <a:bodyPr anchor="t" rtlCol="false" tIns="0" lIns="0" bIns="0" rIns="0">
            <a:spAutoFit/>
          </a:bodyPr>
          <a:lstStyle/>
          <a:p>
            <a:pPr algn="ctr">
              <a:lnSpc>
                <a:spcPts val="3640"/>
              </a:lnSpc>
              <a:spcBef>
                <a:spcPct val="0"/>
              </a:spcBef>
            </a:pPr>
            <a:r>
              <a:rPr lang="en-US" sz="2600" spc="780">
                <a:solidFill>
                  <a:srgbClr val="FFFFFF"/>
                </a:solidFill>
                <a:latin typeface="UID ในตำนาน"/>
                <a:ea typeface="UID ในตำนาน"/>
                <a:cs typeface="UID ในตำนาน"/>
                <a:sym typeface="UID ในตำนาน"/>
              </a:rPr>
              <a:t>FOR Y</a:t>
            </a:r>
            <a:r>
              <a:rPr lang="en-US" sz="2600" spc="780">
                <a:solidFill>
                  <a:srgbClr val="FFFFFF"/>
                </a:solidFill>
                <a:latin typeface="UID ในตำนาน"/>
                <a:ea typeface="UID ในตำนาน"/>
                <a:cs typeface="UID ในตำนาน"/>
                <a:sym typeface="UID ในตำนาน"/>
              </a:rPr>
              <a:t>OUR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DAHTwHCTgJU</dc:identifier>
  <dcterms:modified xsi:type="dcterms:W3CDTF">2011-08-01T06:04:30Z</dcterms:modified>
  <cp:revision>1</cp:revision>
  <dc:title>กระบวนการเตรียมและสำรวจข้อมูล (EDA) บทความวิจัยจาก Scopus สำหรับ Machine Learning</dc:title>
</cp:coreProperties>
</file>